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71" r:id="rId3"/>
    <p:sldId id="258" r:id="rId4"/>
    <p:sldId id="272" r:id="rId5"/>
    <p:sldId id="274" r:id="rId6"/>
    <p:sldId id="275" r:id="rId7"/>
    <p:sldId id="276" r:id="rId8"/>
    <p:sldId id="277" r:id="rId9"/>
    <p:sldId id="278" r:id="rId10"/>
    <p:sldId id="311" r:id="rId11"/>
    <p:sldId id="313" r:id="rId12"/>
    <p:sldId id="317" r:id="rId13"/>
    <p:sldId id="319" r:id="rId14"/>
    <p:sldId id="320" r:id="rId15"/>
    <p:sldId id="321" r:id="rId16"/>
    <p:sldId id="322" r:id="rId17"/>
    <p:sldId id="323" r:id="rId18"/>
    <p:sldId id="324" r:id="rId19"/>
    <p:sldId id="325" r:id="rId20"/>
    <p:sldId id="326" r:id="rId21"/>
    <p:sldId id="279" r:id="rId22"/>
    <p:sldId id="314" r:id="rId23"/>
    <p:sldId id="315" r:id="rId24"/>
    <p:sldId id="259" r:id="rId25"/>
  </p:sldIdLst>
  <p:sldSz cx="12192000" cy="6858000"/>
  <p:notesSz cx="6858000" cy="9144000"/>
  <p:embeddedFontLst>
    <p:embeddedFont>
      <p:font typeface="Libre Baskerville" panose="02000000000000000000" pitchFamily="2" charset="0"/>
      <p:regular r:id="rId27"/>
      <p:bold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B0B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0B6797-C334-440E-9968-56F263D74220}" v="153" dt="2025-12-23T14:19:29.9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86"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riram943-collab" TargetMode="External"/><Relationship Id="rId2" Type="http://schemas.openxmlformats.org/officeDocument/2006/relationships/hyperlink" Target="https://www.linkedin.com/in/sri-ram-krishnasagarapu-760a2023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670331" y="3728377"/>
            <a:ext cx="7246189" cy="892512"/>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a:ea typeface="Calibri"/>
                <a:cs typeface="Calibri"/>
                <a:sym typeface="Calibri"/>
              </a:rPr>
            </a:br>
            <a:r>
              <a:rPr lang="en-IN" sz="3400" b="1" dirty="0">
                <a:solidFill>
                  <a:srgbClr val="FF0000"/>
                </a:solidFill>
                <a:latin typeface="Times New Roman" panose="02020603050405020304" pitchFamily="18" charset="0"/>
                <a:cs typeface="Times New Roman" panose="02020603050405020304" pitchFamily="18" charset="0"/>
              </a:rPr>
              <a:t>World Wide Energy Consumption</a:t>
            </a:r>
            <a:endParaRPr sz="3400" b="0" i="0"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3F06B5C8-3827-9A94-5511-CEC193AC14B5}"/>
              </a:ext>
            </a:extLst>
          </p:cNvPr>
          <p:cNvSpPr txBox="1"/>
          <p:nvPr/>
        </p:nvSpPr>
        <p:spPr>
          <a:xfrm>
            <a:off x="7800108" y="5257383"/>
            <a:ext cx="3820521" cy="830997"/>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Presented By : </a:t>
            </a:r>
            <a:r>
              <a:rPr lang="en-US" sz="1600" b="1" dirty="0">
                <a:latin typeface="Times New Roman" panose="02020603050405020304" pitchFamily="18" charset="0"/>
                <a:cs typeface="Times New Roman" panose="02020603050405020304" pitchFamily="18" charset="0"/>
              </a:rPr>
              <a:t>K. Sri Ram</a:t>
            </a:r>
          </a:p>
          <a:p>
            <a:r>
              <a:rPr lang="en-US" sz="1600" dirty="0">
                <a:latin typeface="Times New Roman" panose="02020603050405020304" pitchFamily="18" charset="0"/>
                <a:cs typeface="Times New Roman" panose="02020603050405020304" pitchFamily="18" charset="0"/>
              </a:rPr>
              <a:t>Batch No : </a:t>
            </a:r>
            <a:r>
              <a:rPr lang="en-US" sz="1600" b="1" dirty="0">
                <a:latin typeface="Times New Roman" panose="02020603050405020304" pitchFamily="18" charset="0"/>
                <a:cs typeface="Times New Roman" panose="02020603050405020304" pitchFamily="18" charset="0"/>
              </a:rPr>
              <a:t>436</a:t>
            </a:r>
          </a:p>
          <a:p>
            <a:r>
              <a:rPr lang="en-US" sz="1600" dirty="0">
                <a:latin typeface="Times New Roman" panose="02020603050405020304" pitchFamily="18" charset="0"/>
                <a:cs typeface="Times New Roman" panose="02020603050405020304" pitchFamily="18" charset="0"/>
              </a:rPr>
              <a:t>Branch : </a:t>
            </a:r>
            <a:r>
              <a:rPr lang="en-US" sz="1600" b="1" dirty="0">
                <a:latin typeface="Times New Roman" panose="02020603050405020304" pitchFamily="18" charset="0"/>
                <a:cs typeface="Times New Roman" panose="02020603050405020304" pitchFamily="18" charset="0"/>
              </a:rPr>
              <a:t>Dilsukhnagar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6906C5-077C-2EA4-6336-CA9646440A3C}"/>
              </a:ext>
            </a:extLst>
          </p:cNvPr>
          <p:cNvSpPr txBox="1"/>
          <p:nvPr/>
        </p:nvSpPr>
        <p:spPr>
          <a:xfrm>
            <a:off x="694944" y="493776"/>
            <a:ext cx="1925527" cy="553998"/>
          </a:xfrm>
          <a:prstGeom prst="rect">
            <a:avLst/>
          </a:prstGeom>
          <a:noFill/>
        </p:spPr>
        <p:txBody>
          <a:bodyPr wrap="none" rtlCol="0">
            <a:spAutoFit/>
          </a:bodyPr>
          <a:lstStyle/>
          <a:p>
            <a:r>
              <a:rPr lang="en-US" sz="3000" b="1" dirty="0">
                <a:solidFill>
                  <a:srgbClr val="FF0000"/>
                </a:solidFill>
                <a:latin typeface="Times New Roman" panose="02020603050405020304" pitchFamily="18" charset="0"/>
                <a:cs typeface="Times New Roman" panose="02020603050405020304" pitchFamily="18" charset="0"/>
              </a:rPr>
              <a:t>About me:</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8322E10-7CBF-DF70-F854-EA6BFD44EDB6}"/>
              </a:ext>
            </a:extLst>
          </p:cNvPr>
          <p:cNvSpPr txBox="1"/>
          <p:nvPr/>
        </p:nvSpPr>
        <p:spPr>
          <a:xfrm>
            <a:off x="694944" y="1124712"/>
            <a:ext cx="10780776" cy="3139321"/>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I am Krishnasagarapu Sri Ram.</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I have graduated with a B.Tech in Computer Science and Engineering (Data Science) from Vignana Bharathi Institute of Technology.</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Linkedin : </a:t>
            </a:r>
            <a:r>
              <a:rPr lang="en-US" sz="2200" dirty="0">
                <a:latin typeface="Times New Roman" panose="02020603050405020304" pitchFamily="18" charset="0"/>
                <a:cs typeface="Times New Roman" panose="02020603050405020304" pitchFamily="18" charset="0"/>
                <a:hlinkClick r:id="rId2"/>
              </a:rPr>
              <a:t>https://www.linkedin.com/in/sri-ram-krishnasagarapu-760a20239/</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Github : </a:t>
            </a:r>
            <a:r>
              <a:rPr lang="en-US" sz="2200" dirty="0">
                <a:latin typeface="Times New Roman" panose="02020603050405020304" pitchFamily="18" charset="0"/>
                <a:cs typeface="Times New Roman" panose="02020603050405020304" pitchFamily="18" charset="0"/>
                <a:hlinkClick r:id="rId3"/>
              </a:rPr>
              <a:t>https://github.com/Sriram943-collab</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7680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368300">
              <a:buSzPts val="2400"/>
            </a:pPr>
            <a:r>
              <a:rPr lang="en-IN" sz="2400" b="1" dirty="0">
                <a:latin typeface="Times New Roman" panose="02020603050405020304" pitchFamily="18" charset="0"/>
                <a:cs typeface="Times New Roman" panose="02020603050405020304" pitchFamily="18" charset="0"/>
              </a:rPr>
              <a:t>Problem Statement</a:t>
            </a:r>
          </a:p>
          <a:p>
            <a:pPr marL="368300">
              <a:buSzPts val="2400"/>
            </a:pPr>
            <a:r>
              <a:rPr lang="en-IN" sz="2400" b="1" dirty="0">
                <a:latin typeface="Times New Roman" panose="02020603050405020304" pitchFamily="18" charset="0"/>
                <a:cs typeface="Times New Roman" panose="02020603050405020304" pitchFamily="18" charset="0"/>
              </a:rPr>
              <a:t>Objective</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ER Diagram and schema explanation</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SQL query results with screenshots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Final business insights and recommendations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Conclusion</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Q&amp;A Slide </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D9A90D-83B6-328F-3943-B50E2B57E501}"/>
              </a:ext>
            </a:extLst>
          </p:cNvPr>
          <p:cNvSpPr txBox="1"/>
          <p:nvPr/>
        </p:nvSpPr>
        <p:spPr>
          <a:xfrm>
            <a:off x="768927" y="488373"/>
            <a:ext cx="4764446"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Business Problem Statement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AC4A2DD-C9FE-9D4C-A68E-62B345D37933}"/>
              </a:ext>
            </a:extLst>
          </p:cNvPr>
          <p:cNvSpPr txBox="1"/>
          <p:nvPr/>
        </p:nvSpPr>
        <p:spPr>
          <a:xfrm>
            <a:off x="768927" y="1198631"/>
            <a:ext cx="10432472"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Rapid economic growth and increasing energy demand have created challenges in managing emissions and ensuring sustainable energy use. To address this, governments, policymakers, and energy stakeholders - such as NTPC (National Thermal Power Corporation) and international organizations like the International Energy Agency (IEA)-require data-driven insights to balance economic growth with sustainable energy usage and emission control. This project analyzes global energy consumption, production, emissions, GDP, and population data using SQL to support informed decision-making and global comparisons for sustainable energy planning.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7530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C324F4-5A0D-11C1-082C-686B6425AF92}"/>
              </a:ext>
            </a:extLst>
          </p:cNvPr>
          <p:cNvSpPr txBox="1"/>
          <p:nvPr/>
        </p:nvSpPr>
        <p:spPr>
          <a:xfrm>
            <a:off x="581891" y="394854"/>
            <a:ext cx="1869423"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Objective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6BE3319-6E6D-F1E2-5AF8-BDCD31B45589}"/>
              </a:ext>
            </a:extLst>
          </p:cNvPr>
          <p:cNvSpPr txBox="1"/>
          <p:nvPr/>
        </p:nvSpPr>
        <p:spPr>
          <a:xfrm>
            <a:off x="581891" y="1236518"/>
            <a:ext cx="10588336" cy="458587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design and manage a structured SQL database for global energy, emissions,               GDP, and population data.</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analyze country-wise energy production, consumption, and emission patterns over time.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study the impact of population growth and economic factors (GDP) on energy usage and emissions.</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perform per-capita and ratio-based analysis for fair comparison across countries.</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 generate meaningful insights that support sustainability evaluation and energy policy decision-making.</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5474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6BF76E-2E0A-36F1-0B71-6916848BE610}"/>
              </a:ext>
            </a:extLst>
          </p:cNvPr>
          <p:cNvSpPr txBox="1"/>
          <p:nvPr/>
        </p:nvSpPr>
        <p:spPr>
          <a:xfrm>
            <a:off x="4779818" y="311728"/>
            <a:ext cx="2129109"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ER Diagram</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A8D0694-9FCD-C5C7-D5F7-9C3785CD19D2}"/>
              </a:ext>
            </a:extLst>
          </p:cNvPr>
          <p:cNvPicPr>
            <a:picLocks noChangeAspect="1"/>
          </p:cNvPicPr>
          <p:nvPr/>
        </p:nvPicPr>
        <p:blipFill>
          <a:blip r:embed="rId2"/>
          <a:stretch>
            <a:fillRect/>
          </a:stretch>
        </p:blipFill>
        <p:spPr>
          <a:xfrm>
            <a:off x="498764" y="946504"/>
            <a:ext cx="10900063" cy="5305335"/>
          </a:xfrm>
          <a:prstGeom prst="rect">
            <a:avLst/>
          </a:prstGeom>
        </p:spPr>
      </p:pic>
    </p:spTree>
    <p:extLst>
      <p:ext uri="{BB962C8B-B14F-4D97-AF65-F5344CB8AC3E}">
        <p14:creationId xmlns:p14="http://schemas.microsoft.com/office/powerpoint/2010/main" val="2791356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424A6C-E67E-C227-B2BD-E3F58EB6AA38}"/>
              </a:ext>
            </a:extLst>
          </p:cNvPr>
          <p:cNvSpPr txBox="1"/>
          <p:nvPr/>
        </p:nvSpPr>
        <p:spPr>
          <a:xfrm>
            <a:off x="488373" y="301338"/>
            <a:ext cx="3065263"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Schema Overview:</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B329068-D10E-B89B-8281-FFEE49A6CD5C}"/>
              </a:ext>
            </a:extLst>
          </p:cNvPr>
          <p:cNvSpPr txBox="1"/>
          <p:nvPr/>
        </p:nvSpPr>
        <p:spPr>
          <a:xfrm>
            <a:off x="633845" y="1122218"/>
            <a:ext cx="10816937" cy="738664"/>
          </a:xfrm>
          <a:prstGeom prst="rect">
            <a:avLst/>
          </a:prstGeom>
          <a:noFill/>
        </p:spPr>
        <p:txBody>
          <a:bodyPr wrap="square" rtlCol="0">
            <a:spAutoFit/>
          </a:bodyPr>
          <a:lstStyle/>
          <a:p>
            <a:r>
              <a:rPr lang="en-US" sz="2100" b="1" dirty="0">
                <a:latin typeface="Times New Roman" panose="02020603050405020304" pitchFamily="18" charset="0"/>
                <a:cs typeface="Times New Roman" panose="02020603050405020304" pitchFamily="18" charset="0"/>
              </a:rPr>
              <a:t>ENERGYDB2</a:t>
            </a:r>
            <a:r>
              <a:rPr lang="en-US" sz="2100" dirty="0">
                <a:latin typeface="Times New Roman" panose="02020603050405020304" pitchFamily="18" charset="0"/>
                <a:cs typeface="Times New Roman" panose="02020603050405020304" pitchFamily="18" charset="0"/>
              </a:rPr>
              <a:t> is a relational database designed to store and analyze global energy and economic data. It consists of six interconnected tables.</a:t>
            </a:r>
            <a:endParaRPr lang="en-IN" sz="21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BCF6576-ED99-AAB8-0C84-12C1D7D3DDFE}"/>
              </a:ext>
            </a:extLst>
          </p:cNvPr>
          <p:cNvSpPr txBox="1"/>
          <p:nvPr/>
        </p:nvSpPr>
        <p:spPr>
          <a:xfrm>
            <a:off x="633845" y="1985216"/>
            <a:ext cx="10577946" cy="4616648"/>
          </a:xfrm>
          <a:prstGeom prst="rect">
            <a:avLst/>
          </a:prstGeom>
          <a:noFill/>
        </p:spPr>
        <p:txBody>
          <a:bodyPr wrap="square">
            <a:spAutoFit/>
          </a:bodyPr>
          <a:lstStyle/>
          <a:p>
            <a:pPr>
              <a:buNone/>
            </a:pPr>
            <a:r>
              <a:rPr lang="en-US" sz="2200" b="1" dirty="0">
                <a:latin typeface="Times New Roman" panose="02020603050405020304" pitchFamily="18" charset="0"/>
                <a:cs typeface="Times New Roman" panose="02020603050405020304" pitchFamily="18" charset="0"/>
              </a:rPr>
              <a:t>Tables Description:</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Country :</a:t>
            </a:r>
            <a:r>
              <a:rPr lang="en-US" sz="2100" dirty="0">
                <a:latin typeface="Times New Roman" panose="02020603050405020304" pitchFamily="18" charset="0"/>
                <a:cs typeface="Times New Roman" panose="02020603050405020304" pitchFamily="18" charset="0"/>
              </a:rPr>
              <a:t> Master table containing unique country identifiers used as a reference across all  datasets.</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Emission_3 : </a:t>
            </a:r>
            <a:r>
              <a:rPr lang="en-US" sz="2100" dirty="0">
                <a:latin typeface="Times New Roman" panose="02020603050405020304" pitchFamily="18" charset="0"/>
                <a:cs typeface="Times New Roman" panose="02020603050405020304" pitchFamily="18" charset="0"/>
              </a:rPr>
              <a:t>Stores emissions data by country, year, and energy type, including per-capita emissions.</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Population :</a:t>
            </a:r>
            <a:r>
              <a:rPr lang="en-US" sz="2100" dirty="0">
                <a:latin typeface="Times New Roman" panose="02020603050405020304" pitchFamily="18" charset="0"/>
                <a:cs typeface="Times New Roman" panose="02020603050405020304" pitchFamily="18" charset="0"/>
              </a:rPr>
              <a:t> Contains yearly population data for each country.</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GDP_3 : </a:t>
            </a:r>
            <a:r>
              <a:rPr lang="en-US" sz="2100" dirty="0">
                <a:latin typeface="Times New Roman" panose="02020603050405020304" pitchFamily="18" charset="0"/>
                <a:cs typeface="Times New Roman" panose="02020603050405020304" pitchFamily="18" charset="0"/>
              </a:rPr>
              <a:t>Stores annual GDP values used for economic comparison.</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Production : </a:t>
            </a:r>
            <a:r>
              <a:rPr lang="en-US" sz="2100" dirty="0">
                <a:latin typeface="Times New Roman" panose="02020603050405020304" pitchFamily="18" charset="0"/>
                <a:cs typeface="Times New Roman" panose="02020603050405020304" pitchFamily="18" charset="0"/>
              </a:rPr>
              <a:t>Records energy production by country, year, and energy source.</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Consumption : </a:t>
            </a:r>
            <a:r>
              <a:rPr lang="en-US" sz="2100" dirty="0">
                <a:latin typeface="Times New Roman" panose="02020603050405020304" pitchFamily="18" charset="0"/>
                <a:cs typeface="Times New Roman" panose="02020603050405020304" pitchFamily="18" charset="0"/>
              </a:rPr>
              <a:t>Captures energy consumption patterns by country, year, and energy type.</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100" b="1" dirty="0">
                <a:latin typeface="Times New Roman" panose="02020603050405020304" pitchFamily="18" charset="0"/>
                <a:cs typeface="Times New Roman" panose="02020603050405020304" pitchFamily="18" charset="0"/>
              </a:rPr>
              <a:t>Schema Relationships:</a:t>
            </a:r>
          </a:p>
          <a:p>
            <a:pPr marL="342900" indent="-3429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Country table acts as the central master table.</a:t>
            </a:r>
          </a:p>
          <a:p>
            <a:pPr marL="342900" indent="-3429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country column in all other tables is defined as a foreign key referencing the Country table.</a:t>
            </a:r>
          </a:p>
        </p:txBody>
      </p:sp>
    </p:spTree>
    <p:extLst>
      <p:ext uri="{BB962C8B-B14F-4D97-AF65-F5344CB8AC3E}">
        <p14:creationId xmlns:p14="http://schemas.microsoft.com/office/powerpoint/2010/main" val="2457550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9DDFBC-42F8-7A01-E526-6E3D8C89CEA0}"/>
              </a:ext>
            </a:extLst>
          </p:cNvPr>
          <p:cNvSpPr txBox="1"/>
          <p:nvPr/>
        </p:nvSpPr>
        <p:spPr>
          <a:xfrm>
            <a:off x="602673" y="259773"/>
            <a:ext cx="2747868"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Table Structure:</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3C3A771-39F0-AD71-1683-E169EE0DAF19}"/>
              </a:ext>
            </a:extLst>
          </p:cNvPr>
          <p:cNvSpPr txBox="1"/>
          <p:nvPr/>
        </p:nvSpPr>
        <p:spPr>
          <a:xfrm>
            <a:off x="841664" y="1246909"/>
            <a:ext cx="212590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Country Table</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CF5B058-AE7B-2EFB-D401-9FD4D8F64D62}"/>
              </a:ext>
            </a:extLst>
          </p:cNvPr>
          <p:cNvPicPr>
            <a:picLocks noChangeAspect="1"/>
          </p:cNvPicPr>
          <p:nvPr/>
        </p:nvPicPr>
        <p:blipFill>
          <a:blip r:embed="rId2"/>
          <a:stretch>
            <a:fillRect/>
          </a:stretch>
        </p:blipFill>
        <p:spPr>
          <a:xfrm>
            <a:off x="602673" y="2034401"/>
            <a:ext cx="4105848" cy="752580"/>
          </a:xfrm>
          <a:prstGeom prst="rect">
            <a:avLst/>
          </a:prstGeom>
        </p:spPr>
      </p:pic>
      <p:sp>
        <p:nvSpPr>
          <p:cNvPr id="6" name="TextBox 5">
            <a:extLst>
              <a:ext uri="{FF2B5EF4-FFF2-40B4-BE49-F238E27FC236}">
                <a16:creationId xmlns:a16="http://schemas.microsoft.com/office/drawing/2014/main" id="{05BC6EFF-44EA-FFA1-E149-0EE45165E539}"/>
              </a:ext>
            </a:extLst>
          </p:cNvPr>
          <p:cNvSpPr txBox="1"/>
          <p:nvPr/>
        </p:nvSpPr>
        <p:spPr>
          <a:xfrm>
            <a:off x="4821381" y="3866204"/>
            <a:ext cx="2210862"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Emission Table</a:t>
            </a:r>
            <a:endParaRPr lang="en-IN" sz="2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351573C-DEF3-18BC-86A9-81A377D0BCEC}"/>
              </a:ext>
            </a:extLst>
          </p:cNvPr>
          <p:cNvPicPr>
            <a:picLocks noChangeAspect="1"/>
          </p:cNvPicPr>
          <p:nvPr/>
        </p:nvPicPr>
        <p:blipFill>
          <a:blip r:embed="rId3"/>
          <a:stretch>
            <a:fillRect/>
          </a:stretch>
        </p:blipFill>
        <p:spPr>
          <a:xfrm>
            <a:off x="3445119" y="4539427"/>
            <a:ext cx="4782217" cy="1457528"/>
          </a:xfrm>
          <a:prstGeom prst="rect">
            <a:avLst/>
          </a:prstGeom>
        </p:spPr>
      </p:pic>
      <p:sp>
        <p:nvSpPr>
          <p:cNvPr id="9" name="TextBox 8">
            <a:extLst>
              <a:ext uri="{FF2B5EF4-FFF2-40B4-BE49-F238E27FC236}">
                <a16:creationId xmlns:a16="http://schemas.microsoft.com/office/drawing/2014/main" id="{EDC39E8C-FCBC-3CED-409F-1EF6562B68C1}"/>
              </a:ext>
            </a:extLst>
          </p:cNvPr>
          <p:cNvSpPr txBox="1"/>
          <p:nvPr/>
        </p:nvSpPr>
        <p:spPr>
          <a:xfrm>
            <a:off x="7824355" y="1246908"/>
            <a:ext cx="2794355"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Consumption Table</a:t>
            </a:r>
            <a:endParaRPr lang="en-I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55F6DC3-184F-30AC-A42D-8B2C5B7B9A92}"/>
              </a:ext>
            </a:extLst>
          </p:cNvPr>
          <p:cNvPicPr>
            <a:picLocks noChangeAspect="1"/>
          </p:cNvPicPr>
          <p:nvPr/>
        </p:nvPicPr>
        <p:blipFill>
          <a:blip r:embed="rId4"/>
          <a:stretch>
            <a:fillRect/>
          </a:stretch>
        </p:blipFill>
        <p:spPr>
          <a:xfrm>
            <a:off x="7032243" y="1829585"/>
            <a:ext cx="4496427" cy="1162212"/>
          </a:xfrm>
          <a:prstGeom prst="rect">
            <a:avLst/>
          </a:prstGeom>
        </p:spPr>
      </p:pic>
    </p:spTree>
    <p:extLst>
      <p:ext uri="{BB962C8B-B14F-4D97-AF65-F5344CB8AC3E}">
        <p14:creationId xmlns:p14="http://schemas.microsoft.com/office/powerpoint/2010/main" val="1419114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FD8734-0B73-8107-706E-26758541F086}"/>
              </a:ext>
            </a:extLst>
          </p:cNvPr>
          <p:cNvSpPr txBox="1"/>
          <p:nvPr/>
        </p:nvSpPr>
        <p:spPr>
          <a:xfrm>
            <a:off x="820882" y="613064"/>
            <a:ext cx="1662635"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GDP Table</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02CFDA4-6BAC-A9CE-F446-3DE6308530E7}"/>
              </a:ext>
            </a:extLst>
          </p:cNvPr>
          <p:cNvPicPr>
            <a:picLocks noChangeAspect="1"/>
          </p:cNvPicPr>
          <p:nvPr/>
        </p:nvPicPr>
        <p:blipFill>
          <a:blip r:embed="rId2"/>
          <a:stretch>
            <a:fillRect/>
          </a:stretch>
        </p:blipFill>
        <p:spPr>
          <a:xfrm>
            <a:off x="820882" y="1446866"/>
            <a:ext cx="4067743" cy="971686"/>
          </a:xfrm>
          <a:prstGeom prst="rect">
            <a:avLst/>
          </a:prstGeom>
        </p:spPr>
      </p:pic>
      <p:sp>
        <p:nvSpPr>
          <p:cNvPr id="5" name="TextBox 4">
            <a:extLst>
              <a:ext uri="{FF2B5EF4-FFF2-40B4-BE49-F238E27FC236}">
                <a16:creationId xmlns:a16="http://schemas.microsoft.com/office/drawing/2014/main" id="{9579B0C3-68B6-B7DB-8606-8DDA87CFD3C0}"/>
              </a:ext>
            </a:extLst>
          </p:cNvPr>
          <p:cNvSpPr txBox="1"/>
          <p:nvPr/>
        </p:nvSpPr>
        <p:spPr>
          <a:xfrm>
            <a:off x="7564582" y="613063"/>
            <a:ext cx="2449710"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Population Table</a:t>
            </a:r>
            <a:endParaRPr lang="en-IN" sz="24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DDF3E76-B72C-9915-4142-9DCCAF1E5515}"/>
              </a:ext>
            </a:extLst>
          </p:cNvPr>
          <p:cNvPicPr>
            <a:picLocks noChangeAspect="1"/>
          </p:cNvPicPr>
          <p:nvPr/>
        </p:nvPicPr>
        <p:blipFill>
          <a:blip r:embed="rId3"/>
          <a:stretch>
            <a:fillRect/>
          </a:stretch>
        </p:blipFill>
        <p:spPr>
          <a:xfrm>
            <a:off x="7175502" y="1446866"/>
            <a:ext cx="4096322" cy="971686"/>
          </a:xfrm>
          <a:prstGeom prst="rect">
            <a:avLst/>
          </a:prstGeom>
        </p:spPr>
      </p:pic>
      <p:sp>
        <p:nvSpPr>
          <p:cNvPr id="8" name="TextBox 7">
            <a:extLst>
              <a:ext uri="{FF2B5EF4-FFF2-40B4-BE49-F238E27FC236}">
                <a16:creationId xmlns:a16="http://schemas.microsoft.com/office/drawing/2014/main" id="{3D9F3E96-9A8B-18BC-E7F9-6D11C3241028}"/>
              </a:ext>
            </a:extLst>
          </p:cNvPr>
          <p:cNvSpPr txBox="1"/>
          <p:nvPr/>
        </p:nvSpPr>
        <p:spPr>
          <a:xfrm>
            <a:off x="4447310" y="3605645"/>
            <a:ext cx="2483372"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Production Table</a:t>
            </a:r>
            <a:endParaRPr lang="en-I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FCED700-6DAD-7561-AF85-F3C8B7801F7F}"/>
              </a:ext>
            </a:extLst>
          </p:cNvPr>
          <p:cNvPicPr>
            <a:picLocks noChangeAspect="1"/>
          </p:cNvPicPr>
          <p:nvPr/>
        </p:nvPicPr>
        <p:blipFill>
          <a:blip r:embed="rId4"/>
          <a:stretch>
            <a:fillRect/>
          </a:stretch>
        </p:blipFill>
        <p:spPr>
          <a:xfrm>
            <a:off x="4059079" y="4283568"/>
            <a:ext cx="4344006" cy="1200318"/>
          </a:xfrm>
          <a:prstGeom prst="rect">
            <a:avLst/>
          </a:prstGeom>
        </p:spPr>
      </p:pic>
    </p:spTree>
    <p:extLst>
      <p:ext uri="{BB962C8B-B14F-4D97-AF65-F5344CB8AC3E}">
        <p14:creationId xmlns:p14="http://schemas.microsoft.com/office/powerpoint/2010/main" val="2395903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4AB0F-2706-4215-550B-55F55C5F74DB}"/>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C0F173EA-109A-610B-E049-5B191B36CEA5}"/>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CED38E8C-6246-A23E-E618-2D1A4B693DFD}"/>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F54425A4-8F21-0459-A921-441327F3249A}"/>
              </a:ext>
            </a:extLst>
          </p:cNvPr>
          <p:cNvSpPr txBox="1"/>
          <p:nvPr/>
        </p:nvSpPr>
        <p:spPr>
          <a:xfrm>
            <a:off x="674297" y="1329804"/>
            <a:ext cx="10559759" cy="579967"/>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What is the total emission per country for the most recent year available?</a:t>
            </a:r>
            <a:endParaRPr lang="en-US" sz="2000" b="1" dirty="0">
              <a:latin typeface="Times New Roman" panose="02020603050405020304" pitchFamily="18" charset="0"/>
              <a:cs typeface="Times New Roman" panose="02020603050405020304" pitchFamily="18" charset="0"/>
            </a:endParaRPr>
          </a:p>
        </p:txBody>
      </p:sp>
      <p:grpSp>
        <p:nvGrpSpPr>
          <p:cNvPr id="21" name="Group 20">
            <a:extLst>
              <a:ext uri="{FF2B5EF4-FFF2-40B4-BE49-F238E27FC236}">
                <a16:creationId xmlns:a16="http://schemas.microsoft.com/office/drawing/2014/main" id="{AEFF7130-028A-E209-969F-3C5CEC35CE5C}"/>
              </a:ext>
            </a:extLst>
          </p:cNvPr>
          <p:cNvGrpSpPr/>
          <p:nvPr/>
        </p:nvGrpSpPr>
        <p:grpSpPr>
          <a:xfrm>
            <a:off x="872020" y="2191024"/>
            <a:ext cx="4033663" cy="3036710"/>
            <a:chOff x="674298" y="2332360"/>
            <a:chExt cx="4033663" cy="3036710"/>
          </a:xfrm>
        </p:grpSpPr>
        <p:sp>
          <p:nvSpPr>
            <p:cNvPr id="11" name="TextBox 10">
              <a:extLst>
                <a:ext uri="{FF2B5EF4-FFF2-40B4-BE49-F238E27FC236}">
                  <a16:creationId xmlns:a16="http://schemas.microsoft.com/office/drawing/2014/main" id="{453552BF-3B02-8FDC-426F-A3C2316219E6}"/>
                </a:ext>
              </a:extLst>
            </p:cNvPr>
            <p:cNvSpPr txBox="1"/>
            <p:nvPr/>
          </p:nvSpPr>
          <p:spPr>
            <a:xfrm>
              <a:off x="674298" y="2332360"/>
              <a:ext cx="4033663" cy="369332"/>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16" name="Picture 15">
              <a:extLst>
                <a:ext uri="{FF2B5EF4-FFF2-40B4-BE49-F238E27FC236}">
                  <a16:creationId xmlns:a16="http://schemas.microsoft.com/office/drawing/2014/main" id="{3EED81EF-B4E9-8F3A-14D0-AEA28930E354}"/>
                </a:ext>
              </a:extLst>
            </p:cNvPr>
            <p:cNvPicPr>
              <a:picLocks noChangeAspect="1"/>
            </p:cNvPicPr>
            <p:nvPr/>
          </p:nvPicPr>
          <p:blipFill>
            <a:blip r:embed="rId3"/>
            <a:stretch>
              <a:fillRect/>
            </a:stretch>
          </p:blipFill>
          <p:spPr>
            <a:xfrm>
              <a:off x="674298" y="2825540"/>
              <a:ext cx="4020111" cy="2543530"/>
            </a:xfrm>
            <a:prstGeom prst="rect">
              <a:avLst/>
            </a:prstGeom>
            <a:ln>
              <a:solidFill>
                <a:srgbClr val="B0B0B0"/>
              </a:solidFill>
            </a:ln>
          </p:spPr>
        </p:pic>
      </p:grpSp>
      <p:grpSp>
        <p:nvGrpSpPr>
          <p:cNvPr id="20" name="Group 19">
            <a:extLst>
              <a:ext uri="{FF2B5EF4-FFF2-40B4-BE49-F238E27FC236}">
                <a16:creationId xmlns:a16="http://schemas.microsoft.com/office/drawing/2014/main" id="{02314B54-EA78-0230-5069-3356979CB27C}"/>
              </a:ext>
            </a:extLst>
          </p:cNvPr>
          <p:cNvGrpSpPr/>
          <p:nvPr/>
        </p:nvGrpSpPr>
        <p:grpSpPr>
          <a:xfrm>
            <a:off x="5954177" y="2191024"/>
            <a:ext cx="3185377" cy="3746013"/>
            <a:chOff x="7416960" y="2019038"/>
            <a:chExt cx="3185377" cy="3746013"/>
          </a:xfrm>
        </p:grpSpPr>
        <p:sp>
          <p:nvSpPr>
            <p:cNvPr id="13" name="TextBox 12">
              <a:extLst>
                <a:ext uri="{FF2B5EF4-FFF2-40B4-BE49-F238E27FC236}">
                  <a16:creationId xmlns:a16="http://schemas.microsoft.com/office/drawing/2014/main" id="{92678AA6-C93A-3772-C26B-2A4CB1683CF1}"/>
                </a:ext>
              </a:extLst>
            </p:cNvPr>
            <p:cNvSpPr txBox="1"/>
            <p:nvPr/>
          </p:nvSpPr>
          <p:spPr>
            <a:xfrm>
              <a:off x="7416960" y="2019038"/>
              <a:ext cx="3185377" cy="369332"/>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18" name="object 7">
              <a:extLst>
                <a:ext uri="{FF2B5EF4-FFF2-40B4-BE49-F238E27FC236}">
                  <a16:creationId xmlns:a16="http://schemas.microsoft.com/office/drawing/2014/main" id="{B2B8A788-335E-2350-8BE2-DB6923091FBA}"/>
                </a:ext>
              </a:extLst>
            </p:cNvPr>
            <p:cNvPicPr/>
            <p:nvPr/>
          </p:nvPicPr>
          <p:blipFill>
            <a:blip r:embed="rId4" cstate="print"/>
            <a:stretch>
              <a:fillRect/>
            </a:stretch>
          </p:blipFill>
          <p:spPr>
            <a:xfrm>
              <a:off x="7430512" y="2440826"/>
              <a:ext cx="3171825" cy="3324225"/>
            </a:xfrm>
            <a:prstGeom prst="rect">
              <a:avLst/>
            </a:prstGeom>
            <a:ln>
              <a:solidFill>
                <a:srgbClr val="B0B0B0"/>
              </a:solidFill>
            </a:ln>
          </p:spPr>
        </p:pic>
      </p:grpSp>
    </p:spTree>
    <p:extLst>
      <p:ext uri="{BB962C8B-B14F-4D97-AF65-F5344CB8AC3E}">
        <p14:creationId xmlns:p14="http://schemas.microsoft.com/office/powerpoint/2010/main" val="3719219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94ED8-6B7F-833B-E03F-F58AD9C4926E}"/>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4EC6E8D4-02EC-8C82-8482-47E2BD8FB793}"/>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425DB2C4-45A2-53ED-6A3F-8366302A96AC}"/>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5DBAB53E-4E28-0EF0-6477-780919D0BDAB}"/>
              </a:ext>
            </a:extLst>
          </p:cNvPr>
          <p:cNvSpPr txBox="1"/>
          <p:nvPr/>
        </p:nvSpPr>
        <p:spPr>
          <a:xfrm>
            <a:off x="664001" y="1241460"/>
            <a:ext cx="10559759" cy="579967"/>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What are the top 5 countries by GDP in the most recent year?</a:t>
            </a:r>
            <a:endParaRPr lang="en-US" sz="2000" b="1"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F8F36CEE-FF19-8780-6ADA-4BA6C658835D}"/>
              </a:ext>
            </a:extLst>
          </p:cNvPr>
          <p:cNvGrpSpPr/>
          <p:nvPr/>
        </p:nvGrpSpPr>
        <p:grpSpPr>
          <a:xfrm>
            <a:off x="872019" y="2191024"/>
            <a:ext cx="4033664" cy="3242394"/>
            <a:chOff x="872019" y="2191024"/>
            <a:chExt cx="4033664" cy="3242394"/>
          </a:xfrm>
        </p:grpSpPr>
        <p:sp>
          <p:nvSpPr>
            <p:cNvPr id="11" name="TextBox 10">
              <a:extLst>
                <a:ext uri="{FF2B5EF4-FFF2-40B4-BE49-F238E27FC236}">
                  <a16:creationId xmlns:a16="http://schemas.microsoft.com/office/drawing/2014/main" id="{854B74F6-45A0-FB17-F7A9-09E4F6B9211E}"/>
                </a:ext>
              </a:extLst>
            </p:cNvPr>
            <p:cNvSpPr txBox="1"/>
            <p:nvPr/>
          </p:nvSpPr>
          <p:spPr>
            <a:xfrm>
              <a:off x="872020" y="2191024"/>
              <a:ext cx="4033663" cy="369332"/>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5" name="Picture 4">
              <a:extLst>
                <a:ext uri="{FF2B5EF4-FFF2-40B4-BE49-F238E27FC236}">
                  <a16:creationId xmlns:a16="http://schemas.microsoft.com/office/drawing/2014/main" id="{277AC488-1758-C0BF-1F1B-B4C8FCB24677}"/>
                </a:ext>
              </a:extLst>
            </p:cNvPr>
            <p:cNvPicPr>
              <a:picLocks noChangeAspect="1"/>
            </p:cNvPicPr>
            <p:nvPr/>
          </p:nvPicPr>
          <p:blipFill>
            <a:blip r:embed="rId3"/>
            <a:stretch>
              <a:fillRect/>
            </a:stretch>
          </p:blipFill>
          <p:spPr>
            <a:xfrm>
              <a:off x="872019" y="2706256"/>
              <a:ext cx="4033663" cy="2727162"/>
            </a:xfrm>
            <a:prstGeom prst="rect">
              <a:avLst/>
            </a:prstGeom>
            <a:ln>
              <a:solidFill>
                <a:srgbClr val="B0B0B0"/>
              </a:solidFill>
            </a:ln>
          </p:spPr>
        </p:pic>
      </p:grpSp>
      <p:grpSp>
        <p:nvGrpSpPr>
          <p:cNvPr id="10" name="Group 9">
            <a:extLst>
              <a:ext uri="{FF2B5EF4-FFF2-40B4-BE49-F238E27FC236}">
                <a16:creationId xmlns:a16="http://schemas.microsoft.com/office/drawing/2014/main" id="{89B9D3E4-45A6-6C03-CC74-E87E69F7C895}"/>
              </a:ext>
            </a:extLst>
          </p:cNvPr>
          <p:cNvGrpSpPr/>
          <p:nvPr/>
        </p:nvGrpSpPr>
        <p:grpSpPr>
          <a:xfrm>
            <a:off x="5954177" y="2191024"/>
            <a:ext cx="3466469" cy="3020561"/>
            <a:chOff x="5954177" y="2191024"/>
            <a:chExt cx="3466469" cy="3020561"/>
          </a:xfrm>
        </p:grpSpPr>
        <p:sp>
          <p:nvSpPr>
            <p:cNvPr id="13" name="TextBox 12">
              <a:extLst>
                <a:ext uri="{FF2B5EF4-FFF2-40B4-BE49-F238E27FC236}">
                  <a16:creationId xmlns:a16="http://schemas.microsoft.com/office/drawing/2014/main" id="{269DE90E-77A6-D68E-862C-ED342938271C}"/>
                </a:ext>
              </a:extLst>
            </p:cNvPr>
            <p:cNvSpPr txBox="1"/>
            <p:nvPr/>
          </p:nvSpPr>
          <p:spPr>
            <a:xfrm>
              <a:off x="5954177" y="2191024"/>
              <a:ext cx="3466469"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9" name="Picture 8">
              <a:extLst>
                <a:ext uri="{FF2B5EF4-FFF2-40B4-BE49-F238E27FC236}">
                  <a16:creationId xmlns:a16="http://schemas.microsoft.com/office/drawing/2014/main" id="{75749CEA-15F3-5D85-50FC-0A9DD20AEB15}"/>
                </a:ext>
              </a:extLst>
            </p:cNvPr>
            <p:cNvPicPr>
              <a:picLocks noChangeAspect="1"/>
            </p:cNvPicPr>
            <p:nvPr/>
          </p:nvPicPr>
          <p:blipFill>
            <a:blip r:embed="rId4"/>
            <a:stretch>
              <a:fillRect/>
            </a:stretch>
          </p:blipFill>
          <p:spPr>
            <a:xfrm>
              <a:off x="5954177" y="2706106"/>
              <a:ext cx="3466469" cy="2505479"/>
            </a:xfrm>
            <a:prstGeom prst="rect">
              <a:avLst/>
            </a:prstGeom>
            <a:ln>
              <a:solidFill>
                <a:srgbClr val="B0B0B0"/>
              </a:solidFill>
            </a:ln>
          </p:spPr>
        </p:pic>
      </p:grpSp>
    </p:spTree>
    <p:extLst>
      <p:ext uri="{BB962C8B-B14F-4D97-AF65-F5344CB8AC3E}">
        <p14:creationId xmlns:p14="http://schemas.microsoft.com/office/powerpoint/2010/main" val="749692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BE162-6AA4-570E-8212-7A00F444C8A4}"/>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FF054FE1-9D52-493C-DDC0-BC579990E0AD}"/>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D2AD5D72-1010-AB89-1EF9-E6E035EDA9FB}"/>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A02AB83C-E864-4B7A-A669-5BF9DDD35323}"/>
              </a:ext>
            </a:extLst>
          </p:cNvPr>
          <p:cNvSpPr txBox="1"/>
          <p:nvPr/>
        </p:nvSpPr>
        <p:spPr>
          <a:xfrm>
            <a:off x="674297" y="1168717"/>
            <a:ext cx="10559759" cy="579967"/>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Compare energy production and consumption by country and year? </a:t>
            </a:r>
          </a:p>
        </p:txBody>
      </p:sp>
      <p:grpSp>
        <p:nvGrpSpPr>
          <p:cNvPr id="14" name="Group 13">
            <a:extLst>
              <a:ext uri="{FF2B5EF4-FFF2-40B4-BE49-F238E27FC236}">
                <a16:creationId xmlns:a16="http://schemas.microsoft.com/office/drawing/2014/main" id="{A0E97C1D-4A7C-7EAB-6431-024321248B35}"/>
              </a:ext>
            </a:extLst>
          </p:cNvPr>
          <p:cNvGrpSpPr/>
          <p:nvPr/>
        </p:nvGrpSpPr>
        <p:grpSpPr>
          <a:xfrm>
            <a:off x="872020" y="2191024"/>
            <a:ext cx="4033663" cy="3353928"/>
            <a:chOff x="872020" y="2191024"/>
            <a:chExt cx="4033663" cy="3353928"/>
          </a:xfrm>
        </p:grpSpPr>
        <p:sp>
          <p:nvSpPr>
            <p:cNvPr id="11" name="TextBox 10">
              <a:extLst>
                <a:ext uri="{FF2B5EF4-FFF2-40B4-BE49-F238E27FC236}">
                  <a16:creationId xmlns:a16="http://schemas.microsoft.com/office/drawing/2014/main" id="{7B760ED7-418A-BA34-0289-4C91EF342640}"/>
                </a:ext>
              </a:extLst>
            </p:cNvPr>
            <p:cNvSpPr txBox="1"/>
            <p:nvPr/>
          </p:nvSpPr>
          <p:spPr>
            <a:xfrm>
              <a:off x="872020" y="2191024"/>
              <a:ext cx="4033663" cy="369332"/>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12" name="Picture 11">
              <a:extLst>
                <a:ext uri="{FF2B5EF4-FFF2-40B4-BE49-F238E27FC236}">
                  <a16:creationId xmlns:a16="http://schemas.microsoft.com/office/drawing/2014/main" id="{7E915CA7-0BB8-646A-2D55-A773B3AF5382}"/>
                </a:ext>
              </a:extLst>
            </p:cNvPr>
            <p:cNvPicPr>
              <a:picLocks noChangeAspect="1"/>
            </p:cNvPicPr>
            <p:nvPr/>
          </p:nvPicPr>
          <p:blipFill>
            <a:blip r:embed="rId3"/>
            <a:stretch>
              <a:fillRect/>
            </a:stretch>
          </p:blipFill>
          <p:spPr>
            <a:xfrm>
              <a:off x="872020" y="2706106"/>
              <a:ext cx="4033663" cy="2838846"/>
            </a:xfrm>
            <a:prstGeom prst="rect">
              <a:avLst/>
            </a:prstGeom>
            <a:ln>
              <a:solidFill>
                <a:srgbClr val="B0B0B0"/>
              </a:solidFill>
            </a:ln>
          </p:spPr>
        </p:pic>
      </p:grpSp>
      <p:grpSp>
        <p:nvGrpSpPr>
          <p:cNvPr id="17" name="Group 16">
            <a:extLst>
              <a:ext uri="{FF2B5EF4-FFF2-40B4-BE49-F238E27FC236}">
                <a16:creationId xmlns:a16="http://schemas.microsoft.com/office/drawing/2014/main" id="{6AA32352-D8AC-A450-B3B9-27651B1F204E}"/>
              </a:ext>
            </a:extLst>
          </p:cNvPr>
          <p:cNvGrpSpPr/>
          <p:nvPr/>
        </p:nvGrpSpPr>
        <p:grpSpPr>
          <a:xfrm>
            <a:off x="5881441" y="2191024"/>
            <a:ext cx="4447218" cy="3162442"/>
            <a:chOff x="5954177" y="2191024"/>
            <a:chExt cx="4447218" cy="2697016"/>
          </a:xfrm>
        </p:grpSpPr>
        <p:sp>
          <p:nvSpPr>
            <p:cNvPr id="13" name="TextBox 12">
              <a:extLst>
                <a:ext uri="{FF2B5EF4-FFF2-40B4-BE49-F238E27FC236}">
                  <a16:creationId xmlns:a16="http://schemas.microsoft.com/office/drawing/2014/main" id="{2CDF55DC-DD4F-C071-CF1D-9B91E9743339}"/>
                </a:ext>
              </a:extLst>
            </p:cNvPr>
            <p:cNvSpPr txBox="1"/>
            <p:nvPr/>
          </p:nvSpPr>
          <p:spPr>
            <a:xfrm>
              <a:off x="5954177" y="2191024"/>
              <a:ext cx="4447217" cy="262481"/>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16" name="Picture 15">
              <a:extLst>
                <a:ext uri="{FF2B5EF4-FFF2-40B4-BE49-F238E27FC236}">
                  <a16:creationId xmlns:a16="http://schemas.microsoft.com/office/drawing/2014/main" id="{B3CBB530-0C9B-A139-1128-6A4F5FDFEB28}"/>
                </a:ext>
              </a:extLst>
            </p:cNvPr>
            <p:cNvPicPr>
              <a:picLocks noChangeAspect="1"/>
            </p:cNvPicPr>
            <p:nvPr/>
          </p:nvPicPr>
          <p:blipFill>
            <a:blip r:embed="rId4"/>
            <a:stretch>
              <a:fillRect/>
            </a:stretch>
          </p:blipFill>
          <p:spPr>
            <a:xfrm>
              <a:off x="5954177" y="2630300"/>
              <a:ext cx="4447218" cy="2257740"/>
            </a:xfrm>
            <a:prstGeom prst="rect">
              <a:avLst/>
            </a:prstGeom>
            <a:ln>
              <a:solidFill>
                <a:srgbClr val="B0B0B0"/>
              </a:solidFill>
            </a:ln>
          </p:spPr>
        </p:pic>
      </p:grpSp>
    </p:spTree>
    <p:extLst>
      <p:ext uri="{BB962C8B-B14F-4D97-AF65-F5344CB8AC3E}">
        <p14:creationId xmlns:p14="http://schemas.microsoft.com/office/powerpoint/2010/main" val="3718967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9CB9-4C7E-9CFB-36E7-7668D7D2A600}"/>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710DF9E2-8A50-6AFC-3734-10FFC8DF0257}"/>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7DA291B0-AC2F-E1B2-DCA1-75EB839B8D1A}"/>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1DBB5C03-7F0F-A34A-F136-1E9FF7CD2052}"/>
              </a:ext>
            </a:extLst>
          </p:cNvPr>
          <p:cNvSpPr txBox="1"/>
          <p:nvPr/>
        </p:nvSpPr>
        <p:spPr>
          <a:xfrm>
            <a:off x="674297" y="1168717"/>
            <a:ext cx="10559759" cy="579967"/>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Which energy types contribute most to emissions across all countries? </a:t>
            </a:r>
          </a:p>
        </p:txBody>
      </p:sp>
      <p:grpSp>
        <p:nvGrpSpPr>
          <p:cNvPr id="7" name="Group 6">
            <a:extLst>
              <a:ext uri="{FF2B5EF4-FFF2-40B4-BE49-F238E27FC236}">
                <a16:creationId xmlns:a16="http://schemas.microsoft.com/office/drawing/2014/main" id="{9F2BAC5B-C23B-99B1-64C1-A698637E9CB5}"/>
              </a:ext>
            </a:extLst>
          </p:cNvPr>
          <p:cNvGrpSpPr/>
          <p:nvPr/>
        </p:nvGrpSpPr>
        <p:grpSpPr>
          <a:xfrm>
            <a:off x="872020" y="2191024"/>
            <a:ext cx="4033663" cy="2349803"/>
            <a:chOff x="872020" y="2191024"/>
            <a:chExt cx="4033663" cy="3162441"/>
          </a:xfrm>
        </p:grpSpPr>
        <p:sp>
          <p:nvSpPr>
            <p:cNvPr id="11" name="TextBox 10">
              <a:extLst>
                <a:ext uri="{FF2B5EF4-FFF2-40B4-BE49-F238E27FC236}">
                  <a16:creationId xmlns:a16="http://schemas.microsoft.com/office/drawing/2014/main" id="{EA541136-EB8C-CDEA-1D8D-008580D19A32}"/>
                </a:ext>
              </a:extLst>
            </p:cNvPr>
            <p:cNvSpPr txBox="1"/>
            <p:nvPr/>
          </p:nvSpPr>
          <p:spPr>
            <a:xfrm>
              <a:off x="872020" y="2191024"/>
              <a:ext cx="4033663" cy="369332"/>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5" name="Picture 4">
              <a:extLst>
                <a:ext uri="{FF2B5EF4-FFF2-40B4-BE49-F238E27FC236}">
                  <a16:creationId xmlns:a16="http://schemas.microsoft.com/office/drawing/2014/main" id="{EC1F0AC3-02ED-2285-DB8D-A445C7B7D557}"/>
                </a:ext>
              </a:extLst>
            </p:cNvPr>
            <p:cNvPicPr>
              <a:picLocks noChangeAspect="1"/>
            </p:cNvPicPr>
            <p:nvPr/>
          </p:nvPicPr>
          <p:blipFill>
            <a:blip r:embed="rId3"/>
            <a:stretch>
              <a:fillRect/>
            </a:stretch>
          </p:blipFill>
          <p:spPr>
            <a:xfrm>
              <a:off x="872020" y="2927954"/>
              <a:ext cx="4033663" cy="2425511"/>
            </a:xfrm>
            <a:prstGeom prst="rect">
              <a:avLst/>
            </a:prstGeom>
            <a:ln>
              <a:solidFill>
                <a:srgbClr val="B0B0B0"/>
              </a:solidFill>
            </a:ln>
          </p:spPr>
        </p:pic>
      </p:grpSp>
      <p:grpSp>
        <p:nvGrpSpPr>
          <p:cNvPr id="10" name="Group 9">
            <a:extLst>
              <a:ext uri="{FF2B5EF4-FFF2-40B4-BE49-F238E27FC236}">
                <a16:creationId xmlns:a16="http://schemas.microsoft.com/office/drawing/2014/main" id="{DD919CF2-5DC6-A248-47DF-B7A522C00840}"/>
              </a:ext>
            </a:extLst>
          </p:cNvPr>
          <p:cNvGrpSpPr/>
          <p:nvPr/>
        </p:nvGrpSpPr>
        <p:grpSpPr>
          <a:xfrm>
            <a:off x="5881440" y="2191024"/>
            <a:ext cx="4447218" cy="2515603"/>
            <a:chOff x="5881440" y="2191024"/>
            <a:chExt cx="4447218" cy="2515603"/>
          </a:xfrm>
        </p:grpSpPr>
        <p:sp>
          <p:nvSpPr>
            <p:cNvPr id="13" name="TextBox 12">
              <a:extLst>
                <a:ext uri="{FF2B5EF4-FFF2-40B4-BE49-F238E27FC236}">
                  <a16:creationId xmlns:a16="http://schemas.microsoft.com/office/drawing/2014/main" id="{B53BA903-B649-1AFB-E4B2-ACF2CF1F227F}"/>
                </a:ext>
              </a:extLst>
            </p:cNvPr>
            <p:cNvSpPr txBox="1"/>
            <p:nvPr/>
          </p:nvSpPr>
          <p:spPr>
            <a:xfrm>
              <a:off x="5881441" y="2191024"/>
              <a:ext cx="4447217" cy="307778"/>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9" name="Picture 8">
              <a:extLst>
                <a:ext uri="{FF2B5EF4-FFF2-40B4-BE49-F238E27FC236}">
                  <a16:creationId xmlns:a16="http://schemas.microsoft.com/office/drawing/2014/main" id="{189CCFEE-E050-B627-ABD9-6B86D3707732}"/>
                </a:ext>
              </a:extLst>
            </p:cNvPr>
            <p:cNvPicPr>
              <a:picLocks noChangeAspect="1"/>
            </p:cNvPicPr>
            <p:nvPr/>
          </p:nvPicPr>
          <p:blipFill>
            <a:blip r:embed="rId4"/>
            <a:stretch>
              <a:fillRect/>
            </a:stretch>
          </p:blipFill>
          <p:spPr>
            <a:xfrm>
              <a:off x="5881440" y="2904388"/>
              <a:ext cx="4447217" cy="1802239"/>
            </a:xfrm>
            <a:prstGeom prst="rect">
              <a:avLst/>
            </a:prstGeom>
            <a:ln>
              <a:solidFill>
                <a:srgbClr val="B0B0B0"/>
              </a:solidFill>
            </a:ln>
          </p:spPr>
        </p:pic>
      </p:grpSp>
    </p:spTree>
    <p:extLst>
      <p:ext uri="{BB962C8B-B14F-4D97-AF65-F5344CB8AC3E}">
        <p14:creationId xmlns:p14="http://schemas.microsoft.com/office/powerpoint/2010/main" val="268497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945E7-4513-0818-64F3-D94078A6F727}"/>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A8946C9A-7645-99AD-42F5-F4ACF87F15FA}"/>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02BDA21E-CA71-9ABB-6C52-FBFDAE4EB5EF}"/>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097E676C-2949-2B30-9D97-F5A4A027BB84}"/>
              </a:ext>
            </a:extLst>
          </p:cNvPr>
          <p:cNvSpPr txBox="1"/>
          <p:nvPr/>
        </p:nvSpPr>
        <p:spPr>
          <a:xfrm>
            <a:off x="674297" y="1168717"/>
            <a:ext cx="10559759" cy="579967"/>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How have global emissions changed year over year? </a:t>
            </a:r>
          </a:p>
        </p:txBody>
      </p:sp>
      <p:grpSp>
        <p:nvGrpSpPr>
          <p:cNvPr id="7" name="Group 6">
            <a:extLst>
              <a:ext uri="{FF2B5EF4-FFF2-40B4-BE49-F238E27FC236}">
                <a16:creationId xmlns:a16="http://schemas.microsoft.com/office/drawing/2014/main" id="{94CC3CA1-53BB-AEFC-66A2-4C48A45F9D0C}"/>
              </a:ext>
            </a:extLst>
          </p:cNvPr>
          <p:cNvGrpSpPr/>
          <p:nvPr/>
        </p:nvGrpSpPr>
        <p:grpSpPr>
          <a:xfrm>
            <a:off x="872020" y="2191024"/>
            <a:ext cx="3855845" cy="2918293"/>
            <a:chOff x="872020" y="2191024"/>
            <a:chExt cx="3855845" cy="2918293"/>
          </a:xfrm>
        </p:grpSpPr>
        <p:sp>
          <p:nvSpPr>
            <p:cNvPr id="11" name="TextBox 10">
              <a:extLst>
                <a:ext uri="{FF2B5EF4-FFF2-40B4-BE49-F238E27FC236}">
                  <a16:creationId xmlns:a16="http://schemas.microsoft.com/office/drawing/2014/main" id="{8BD52AF0-4560-3FE6-D45A-1B3A552B750B}"/>
                </a:ext>
              </a:extLst>
            </p:cNvPr>
            <p:cNvSpPr txBox="1"/>
            <p:nvPr/>
          </p:nvSpPr>
          <p:spPr>
            <a:xfrm>
              <a:off x="872021" y="2191024"/>
              <a:ext cx="3855844"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5" name="Picture 4">
              <a:extLst>
                <a:ext uri="{FF2B5EF4-FFF2-40B4-BE49-F238E27FC236}">
                  <a16:creationId xmlns:a16="http://schemas.microsoft.com/office/drawing/2014/main" id="{6631E3E4-F646-E742-069F-1F7819771C68}"/>
                </a:ext>
              </a:extLst>
            </p:cNvPr>
            <p:cNvPicPr>
              <a:picLocks noChangeAspect="1"/>
            </p:cNvPicPr>
            <p:nvPr/>
          </p:nvPicPr>
          <p:blipFill>
            <a:blip r:embed="rId3"/>
            <a:stretch>
              <a:fillRect/>
            </a:stretch>
          </p:blipFill>
          <p:spPr>
            <a:xfrm>
              <a:off x="872020" y="2880764"/>
              <a:ext cx="3855844" cy="2228553"/>
            </a:xfrm>
            <a:prstGeom prst="rect">
              <a:avLst/>
            </a:prstGeom>
            <a:ln>
              <a:solidFill>
                <a:srgbClr val="B0B0B0"/>
              </a:solidFill>
            </a:ln>
          </p:spPr>
        </p:pic>
      </p:grpSp>
      <p:grpSp>
        <p:nvGrpSpPr>
          <p:cNvPr id="10" name="Group 9">
            <a:extLst>
              <a:ext uri="{FF2B5EF4-FFF2-40B4-BE49-F238E27FC236}">
                <a16:creationId xmlns:a16="http://schemas.microsoft.com/office/drawing/2014/main" id="{350AD117-E1A6-520C-257B-198FFD5243ED}"/>
              </a:ext>
            </a:extLst>
          </p:cNvPr>
          <p:cNvGrpSpPr/>
          <p:nvPr/>
        </p:nvGrpSpPr>
        <p:grpSpPr>
          <a:xfrm>
            <a:off x="6691933" y="2191024"/>
            <a:ext cx="3855844" cy="2918292"/>
            <a:chOff x="6691933" y="2191024"/>
            <a:chExt cx="3855844" cy="2918292"/>
          </a:xfrm>
        </p:grpSpPr>
        <p:sp>
          <p:nvSpPr>
            <p:cNvPr id="13" name="TextBox 12">
              <a:extLst>
                <a:ext uri="{FF2B5EF4-FFF2-40B4-BE49-F238E27FC236}">
                  <a16:creationId xmlns:a16="http://schemas.microsoft.com/office/drawing/2014/main" id="{ECBCB779-1624-7AF8-6DD6-878A0C31C025}"/>
                </a:ext>
              </a:extLst>
            </p:cNvPr>
            <p:cNvSpPr txBox="1"/>
            <p:nvPr/>
          </p:nvSpPr>
          <p:spPr>
            <a:xfrm>
              <a:off x="6691933" y="2191024"/>
              <a:ext cx="3232078"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9" name="Picture 8">
              <a:extLst>
                <a:ext uri="{FF2B5EF4-FFF2-40B4-BE49-F238E27FC236}">
                  <a16:creationId xmlns:a16="http://schemas.microsoft.com/office/drawing/2014/main" id="{E021FDAC-0BA1-E759-4C87-FC2B5B9D7AE3}"/>
                </a:ext>
              </a:extLst>
            </p:cNvPr>
            <p:cNvPicPr>
              <a:picLocks noChangeAspect="1"/>
            </p:cNvPicPr>
            <p:nvPr/>
          </p:nvPicPr>
          <p:blipFill>
            <a:blip r:embed="rId4"/>
            <a:stretch>
              <a:fillRect/>
            </a:stretch>
          </p:blipFill>
          <p:spPr>
            <a:xfrm>
              <a:off x="6691933" y="2880764"/>
              <a:ext cx="3855844" cy="2228552"/>
            </a:xfrm>
            <a:prstGeom prst="rect">
              <a:avLst/>
            </a:prstGeom>
            <a:ln>
              <a:solidFill>
                <a:srgbClr val="B0B0B0"/>
              </a:solidFill>
            </a:ln>
          </p:spPr>
        </p:pic>
      </p:grpSp>
    </p:spTree>
    <p:extLst>
      <p:ext uri="{BB962C8B-B14F-4D97-AF65-F5344CB8AC3E}">
        <p14:creationId xmlns:p14="http://schemas.microsoft.com/office/powerpoint/2010/main" val="1492151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66EB6-8BAA-73ED-E643-4B22CECD28E1}"/>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4356E124-37C5-46E9-BBD5-254459C1DC3A}"/>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543F26E2-6897-2EDA-6F74-58C4F927AA9A}"/>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1D6EC06C-43AF-E1B7-FF96-A667797D37A7}"/>
              </a:ext>
            </a:extLst>
          </p:cNvPr>
          <p:cNvSpPr txBox="1"/>
          <p:nvPr/>
        </p:nvSpPr>
        <p:spPr>
          <a:xfrm>
            <a:off x="674297" y="1168717"/>
            <a:ext cx="10559759" cy="579967"/>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How has population growth affected total emissions in each country? </a:t>
            </a:r>
          </a:p>
        </p:txBody>
      </p:sp>
      <p:grpSp>
        <p:nvGrpSpPr>
          <p:cNvPr id="7" name="Group 6">
            <a:extLst>
              <a:ext uri="{FF2B5EF4-FFF2-40B4-BE49-F238E27FC236}">
                <a16:creationId xmlns:a16="http://schemas.microsoft.com/office/drawing/2014/main" id="{C3F9FA3F-3629-653B-0935-E259030D175E}"/>
              </a:ext>
            </a:extLst>
          </p:cNvPr>
          <p:cNvGrpSpPr/>
          <p:nvPr/>
        </p:nvGrpSpPr>
        <p:grpSpPr>
          <a:xfrm>
            <a:off x="872020" y="2191024"/>
            <a:ext cx="4096322" cy="3435914"/>
            <a:chOff x="872020" y="2191024"/>
            <a:chExt cx="4096322" cy="3435914"/>
          </a:xfrm>
        </p:grpSpPr>
        <p:sp>
          <p:nvSpPr>
            <p:cNvPr id="11" name="TextBox 10">
              <a:extLst>
                <a:ext uri="{FF2B5EF4-FFF2-40B4-BE49-F238E27FC236}">
                  <a16:creationId xmlns:a16="http://schemas.microsoft.com/office/drawing/2014/main" id="{49C05A23-860A-DAFB-8040-AAE7C3DEEB91}"/>
                </a:ext>
              </a:extLst>
            </p:cNvPr>
            <p:cNvSpPr txBox="1"/>
            <p:nvPr/>
          </p:nvSpPr>
          <p:spPr>
            <a:xfrm>
              <a:off x="872020" y="2191024"/>
              <a:ext cx="4033663" cy="369332"/>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5" name="Picture 4">
              <a:extLst>
                <a:ext uri="{FF2B5EF4-FFF2-40B4-BE49-F238E27FC236}">
                  <a16:creationId xmlns:a16="http://schemas.microsoft.com/office/drawing/2014/main" id="{BF592095-1942-FA1E-8930-0C4954457637}"/>
                </a:ext>
              </a:extLst>
            </p:cNvPr>
            <p:cNvPicPr>
              <a:picLocks noChangeAspect="1"/>
            </p:cNvPicPr>
            <p:nvPr/>
          </p:nvPicPr>
          <p:blipFill>
            <a:blip r:embed="rId3"/>
            <a:stretch>
              <a:fillRect/>
            </a:stretch>
          </p:blipFill>
          <p:spPr>
            <a:xfrm>
              <a:off x="872020" y="2864302"/>
              <a:ext cx="4096322" cy="2762636"/>
            </a:xfrm>
            <a:prstGeom prst="rect">
              <a:avLst/>
            </a:prstGeom>
            <a:ln>
              <a:solidFill>
                <a:srgbClr val="B0B0B0"/>
              </a:solidFill>
            </a:ln>
          </p:spPr>
        </p:pic>
      </p:grpSp>
      <p:grpSp>
        <p:nvGrpSpPr>
          <p:cNvPr id="18" name="Group 17">
            <a:extLst>
              <a:ext uri="{FF2B5EF4-FFF2-40B4-BE49-F238E27FC236}">
                <a16:creationId xmlns:a16="http://schemas.microsoft.com/office/drawing/2014/main" id="{3BE2A79C-0187-1F38-0151-FF58A1837CDB}"/>
              </a:ext>
            </a:extLst>
          </p:cNvPr>
          <p:cNvGrpSpPr/>
          <p:nvPr/>
        </p:nvGrpSpPr>
        <p:grpSpPr>
          <a:xfrm>
            <a:off x="6328064" y="2191024"/>
            <a:ext cx="3430778" cy="3808828"/>
            <a:chOff x="6328064" y="2191024"/>
            <a:chExt cx="3430778" cy="3808828"/>
          </a:xfrm>
        </p:grpSpPr>
        <p:sp>
          <p:nvSpPr>
            <p:cNvPr id="13" name="TextBox 12">
              <a:extLst>
                <a:ext uri="{FF2B5EF4-FFF2-40B4-BE49-F238E27FC236}">
                  <a16:creationId xmlns:a16="http://schemas.microsoft.com/office/drawing/2014/main" id="{D73DB25D-DDD5-FC1F-08BE-A6D5274F3B0B}"/>
                </a:ext>
              </a:extLst>
            </p:cNvPr>
            <p:cNvSpPr txBox="1"/>
            <p:nvPr/>
          </p:nvSpPr>
          <p:spPr>
            <a:xfrm>
              <a:off x="6328064" y="2191024"/>
              <a:ext cx="3430778"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15" name="Picture 14">
              <a:extLst>
                <a:ext uri="{FF2B5EF4-FFF2-40B4-BE49-F238E27FC236}">
                  <a16:creationId xmlns:a16="http://schemas.microsoft.com/office/drawing/2014/main" id="{0295AA5E-AEF5-A933-2E05-5CA2DF034C96}"/>
                </a:ext>
              </a:extLst>
            </p:cNvPr>
            <p:cNvPicPr>
              <a:picLocks noChangeAspect="1"/>
            </p:cNvPicPr>
            <p:nvPr/>
          </p:nvPicPr>
          <p:blipFill>
            <a:blip r:embed="rId4"/>
            <a:stretch>
              <a:fillRect/>
            </a:stretch>
          </p:blipFill>
          <p:spPr>
            <a:xfrm>
              <a:off x="6328064" y="2720804"/>
              <a:ext cx="3430778" cy="3279048"/>
            </a:xfrm>
            <a:prstGeom prst="rect">
              <a:avLst/>
            </a:prstGeom>
            <a:ln>
              <a:solidFill>
                <a:srgbClr val="B0B0B0"/>
              </a:solidFill>
            </a:ln>
          </p:spPr>
        </p:pic>
      </p:grpSp>
    </p:spTree>
    <p:extLst>
      <p:ext uri="{BB962C8B-B14F-4D97-AF65-F5344CB8AC3E}">
        <p14:creationId xmlns:p14="http://schemas.microsoft.com/office/powerpoint/2010/main" val="4267515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CB2FA-35DA-E513-D279-8A49D338706A}"/>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40992CF3-9D4B-ECE5-211B-B5A7E45AAF3B}"/>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18AD3C9F-C42C-EBD0-A5BA-70C7246748DE}"/>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BBEC6E09-ACCD-90B2-16AB-0B17F3618B0E}"/>
              </a:ext>
            </a:extLst>
          </p:cNvPr>
          <p:cNvSpPr txBox="1"/>
          <p:nvPr/>
        </p:nvSpPr>
        <p:spPr>
          <a:xfrm>
            <a:off x="674298" y="1057059"/>
            <a:ext cx="10645683" cy="1133965"/>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Has energy consumption increased or decreased over the years for major economies? </a:t>
            </a:r>
          </a:p>
        </p:txBody>
      </p:sp>
      <p:grpSp>
        <p:nvGrpSpPr>
          <p:cNvPr id="9" name="Group 8">
            <a:extLst>
              <a:ext uri="{FF2B5EF4-FFF2-40B4-BE49-F238E27FC236}">
                <a16:creationId xmlns:a16="http://schemas.microsoft.com/office/drawing/2014/main" id="{AE15C4CE-FE98-2AA8-D863-2775B87F5525}"/>
              </a:ext>
            </a:extLst>
          </p:cNvPr>
          <p:cNvGrpSpPr/>
          <p:nvPr/>
        </p:nvGrpSpPr>
        <p:grpSpPr>
          <a:xfrm>
            <a:off x="903193" y="2269823"/>
            <a:ext cx="4884544" cy="2627422"/>
            <a:chOff x="882411" y="2425687"/>
            <a:chExt cx="4884544" cy="2627422"/>
          </a:xfrm>
        </p:grpSpPr>
        <p:sp>
          <p:nvSpPr>
            <p:cNvPr id="11" name="TextBox 10">
              <a:extLst>
                <a:ext uri="{FF2B5EF4-FFF2-40B4-BE49-F238E27FC236}">
                  <a16:creationId xmlns:a16="http://schemas.microsoft.com/office/drawing/2014/main" id="{C98E7895-D44D-7DC5-B990-8169019F5A78}"/>
                </a:ext>
              </a:extLst>
            </p:cNvPr>
            <p:cNvSpPr txBox="1"/>
            <p:nvPr/>
          </p:nvSpPr>
          <p:spPr>
            <a:xfrm>
              <a:off x="882411" y="2425687"/>
              <a:ext cx="4884544"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8" name="Picture 7">
              <a:extLst>
                <a:ext uri="{FF2B5EF4-FFF2-40B4-BE49-F238E27FC236}">
                  <a16:creationId xmlns:a16="http://schemas.microsoft.com/office/drawing/2014/main" id="{5C43F271-D764-5C5D-7A2B-38E66D781C9A}"/>
                </a:ext>
              </a:extLst>
            </p:cNvPr>
            <p:cNvPicPr>
              <a:picLocks noChangeAspect="1"/>
            </p:cNvPicPr>
            <p:nvPr/>
          </p:nvPicPr>
          <p:blipFill>
            <a:blip r:embed="rId3"/>
            <a:stretch>
              <a:fillRect/>
            </a:stretch>
          </p:blipFill>
          <p:spPr>
            <a:xfrm>
              <a:off x="882411" y="2919211"/>
              <a:ext cx="4884544" cy="2133898"/>
            </a:xfrm>
            <a:prstGeom prst="rect">
              <a:avLst/>
            </a:prstGeom>
            <a:ln>
              <a:solidFill>
                <a:srgbClr val="B0B0B0"/>
              </a:solidFill>
            </a:ln>
          </p:spPr>
        </p:pic>
      </p:grpSp>
      <p:grpSp>
        <p:nvGrpSpPr>
          <p:cNvPr id="14" name="Group 13">
            <a:extLst>
              <a:ext uri="{FF2B5EF4-FFF2-40B4-BE49-F238E27FC236}">
                <a16:creationId xmlns:a16="http://schemas.microsoft.com/office/drawing/2014/main" id="{0466D789-531F-4663-EB01-6A229DFBD985}"/>
              </a:ext>
            </a:extLst>
          </p:cNvPr>
          <p:cNvGrpSpPr/>
          <p:nvPr/>
        </p:nvGrpSpPr>
        <p:grpSpPr>
          <a:xfrm>
            <a:off x="7140702" y="2191024"/>
            <a:ext cx="3430778" cy="3834634"/>
            <a:chOff x="7140702" y="2191024"/>
            <a:chExt cx="3430778" cy="3834634"/>
          </a:xfrm>
        </p:grpSpPr>
        <p:sp>
          <p:nvSpPr>
            <p:cNvPr id="13" name="TextBox 12">
              <a:extLst>
                <a:ext uri="{FF2B5EF4-FFF2-40B4-BE49-F238E27FC236}">
                  <a16:creationId xmlns:a16="http://schemas.microsoft.com/office/drawing/2014/main" id="{28943C3A-9D25-3208-B607-4D027EBF956D}"/>
                </a:ext>
              </a:extLst>
            </p:cNvPr>
            <p:cNvSpPr txBox="1"/>
            <p:nvPr/>
          </p:nvSpPr>
          <p:spPr>
            <a:xfrm>
              <a:off x="7140702" y="2191024"/>
              <a:ext cx="3430778"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12" name="Picture 11">
              <a:extLst>
                <a:ext uri="{FF2B5EF4-FFF2-40B4-BE49-F238E27FC236}">
                  <a16:creationId xmlns:a16="http://schemas.microsoft.com/office/drawing/2014/main" id="{94E7BDC3-936F-5156-53D0-AA11F89B8F84}"/>
                </a:ext>
              </a:extLst>
            </p:cNvPr>
            <p:cNvPicPr>
              <a:picLocks noChangeAspect="1"/>
            </p:cNvPicPr>
            <p:nvPr/>
          </p:nvPicPr>
          <p:blipFill>
            <a:blip r:embed="rId4"/>
            <a:stretch>
              <a:fillRect/>
            </a:stretch>
          </p:blipFill>
          <p:spPr>
            <a:xfrm>
              <a:off x="7140702" y="2692742"/>
              <a:ext cx="3430778" cy="3332916"/>
            </a:xfrm>
            <a:prstGeom prst="rect">
              <a:avLst/>
            </a:prstGeom>
            <a:ln>
              <a:solidFill>
                <a:srgbClr val="B0B0B0"/>
              </a:solidFill>
            </a:ln>
          </p:spPr>
        </p:pic>
      </p:grpSp>
    </p:spTree>
    <p:extLst>
      <p:ext uri="{BB962C8B-B14F-4D97-AF65-F5344CB8AC3E}">
        <p14:creationId xmlns:p14="http://schemas.microsoft.com/office/powerpoint/2010/main" val="3914200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079A-B100-D796-F98C-F1F1379E2FC2}"/>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152B61E2-0732-CB60-4537-0C087D60C039}"/>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D5E4EC30-8113-6259-77B8-396B24F8F2D2}"/>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340AD380-6916-071A-AAFE-BDC54A4901EB}"/>
              </a:ext>
            </a:extLst>
          </p:cNvPr>
          <p:cNvSpPr txBox="1"/>
          <p:nvPr/>
        </p:nvSpPr>
        <p:spPr>
          <a:xfrm>
            <a:off x="674297" y="1168717"/>
            <a:ext cx="10559759" cy="579967"/>
          </a:xfrm>
          <a:prstGeom prst="rect">
            <a:avLst/>
          </a:prstGeom>
          <a:noFill/>
        </p:spPr>
        <p:txBody>
          <a:bodyPr wrap="square" rtlCol="0">
            <a:spAutoFit/>
          </a:bodyPr>
          <a:lstStyle/>
          <a:p>
            <a:pPr algn="just">
              <a:lnSpc>
                <a:spcPct val="150000"/>
              </a:lnSpc>
            </a:pPr>
            <a:r>
              <a:rPr lang="en-US" sz="2400" b="1">
                <a:latin typeface="Times New Roman" panose="02020603050405020304" pitchFamily="18" charset="0"/>
                <a:cs typeface="Times New Roman" panose="02020603050405020304" pitchFamily="18" charset="0"/>
              </a:rPr>
              <a:t>What is the emission-to-GDP ratio for each country by year?</a:t>
            </a:r>
            <a:endParaRPr lang="en-US" sz="2400" b="1" dirty="0">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73A6957B-6BA9-10D6-5864-6D0B68C5CF9B}"/>
              </a:ext>
            </a:extLst>
          </p:cNvPr>
          <p:cNvGrpSpPr/>
          <p:nvPr/>
        </p:nvGrpSpPr>
        <p:grpSpPr>
          <a:xfrm>
            <a:off x="809675" y="1874830"/>
            <a:ext cx="4458064" cy="3108340"/>
            <a:chOff x="872020" y="2191024"/>
            <a:chExt cx="4458064" cy="3108340"/>
          </a:xfrm>
        </p:grpSpPr>
        <p:sp>
          <p:nvSpPr>
            <p:cNvPr id="11" name="TextBox 10">
              <a:extLst>
                <a:ext uri="{FF2B5EF4-FFF2-40B4-BE49-F238E27FC236}">
                  <a16:creationId xmlns:a16="http://schemas.microsoft.com/office/drawing/2014/main" id="{90D67B08-2F32-9F01-28DD-C723BA1D69EF}"/>
                </a:ext>
              </a:extLst>
            </p:cNvPr>
            <p:cNvSpPr txBox="1"/>
            <p:nvPr/>
          </p:nvSpPr>
          <p:spPr>
            <a:xfrm>
              <a:off x="872020" y="2191024"/>
              <a:ext cx="4458064" cy="307778"/>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8" name="Picture 7">
              <a:extLst>
                <a:ext uri="{FF2B5EF4-FFF2-40B4-BE49-F238E27FC236}">
                  <a16:creationId xmlns:a16="http://schemas.microsoft.com/office/drawing/2014/main" id="{286B0D7A-E7EA-86F9-7A54-19633436D39A}"/>
                </a:ext>
              </a:extLst>
            </p:cNvPr>
            <p:cNvPicPr>
              <a:picLocks noChangeAspect="1"/>
            </p:cNvPicPr>
            <p:nvPr/>
          </p:nvPicPr>
          <p:blipFill>
            <a:blip r:embed="rId3"/>
            <a:stretch>
              <a:fillRect/>
            </a:stretch>
          </p:blipFill>
          <p:spPr>
            <a:xfrm>
              <a:off x="872020" y="2904388"/>
              <a:ext cx="4458064" cy="2394976"/>
            </a:xfrm>
            <a:prstGeom prst="rect">
              <a:avLst/>
            </a:prstGeom>
            <a:ln>
              <a:solidFill>
                <a:srgbClr val="B0B0B0"/>
              </a:solidFill>
            </a:ln>
          </p:spPr>
        </p:pic>
      </p:grpSp>
      <p:grpSp>
        <p:nvGrpSpPr>
          <p:cNvPr id="16" name="Group 15">
            <a:extLst>
              <a:ext uri="{FF2B5EF4-FFF2-40B4-BE49-F238E27FC236}">
                <a16:creationId xmlns:a16="http://schemas.microsoft.com/office/drawing/2014/main" id="{58B80389-1547-8B50-E28E-B952A2006039}"/>
              </a:ext>
            </a:extLst>
          </p:cNvPr>
          <p:cNvGrpSpPr/>
          <p:nvPr/>
        </p:nvGrpSpPr>
        <p:grpSpPr>
          <a:xfrm>
            <a:off x="6545936" y="1882744"/>
            <a:ext cx="4300186" cy="4123202"/>
            <a:chOff x="6545936" y="1882744"/>
            <a:chExt cx="4300186" cy="4123202"/>
          </a:xfrm>
        </p:grpSpPr>
        <p:sp>
          <p:nvSpPr>
            <p:cNvPr id="13" name="TextBox 12">
              <a:extLst>
                <a:ext uri="{FF2B5EF4-FFF2-40B4-BE49-F238E27FC236}">
                  <a16:creationId xmlns:a16="http://schemas.microsoft.com/office/drawing/2014/main" id="{3297E90D-DC4D-C681-3D05-56CDEA54E5B6}"/>
                </a:ext>
              </a:extLst>
            </p:cNvPr>
            <p:cNvSpPr txBox="1"/>
            <p:nvPr/>
          </p:nvSpPr>
          <p:spPr>
            <a:xfrm>
              <a:off x="6545936" y="1882744"/>
              <a:ext cx="4300186"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15" name="Picture 14">
              <a:extLst>
                <a:ext uri="{FF2B5EF4-FFF2-40B4-BE49-F238E27FC236}">
                  <a16:creationId xmlns:a16="http://schemas.microsoft.com/office/drawing/2014/main" id="{360BDEA6-D189-8BD3-8243-61BFE4B3E822}"/>
                </a:ext>
              </a:extLst>
            </p:cNvPr>
            <p:cNvPicPr>
              <a:picLocks noChangeAspect="1"/>
            </p:cNvPicPr>
            <p:nvPr/>
          </p:nvPicPr>
          <p:blipFill>
            <a:blip r:embed="rId4"/>
            <a:stretch>
              <a:fillRect/>
            </a:stretch>
          </p:blipFill>
          <p:spPr>
            <a:xfrm>
              <a:off x="6545936" y="2376398"/>
              <a:ext cx="4300185" cy="3629548"/>
            </a:xfrm>
            <a:prstGeom prst="rect">
              <a:avLst/>
            </a:prstGeom>
            <a:ln>
              <a:solidFill>
                <a:srgbClr val="B0B0B0"/>
              </a:solidFill>
            </a:ln>
          </p:spPr>
        </p:pic>
      </p:grpSp>
    </p:spTree>
    <p:extLst>
      <p:ext uri="{BB962C8B-B14F-4D97-AF65-F5344CB8AC3E}">
        <p14:creationId xmlns:p14="http://schemas.microsoft.com/office/powerpoint/2010/main" val="116284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F46C4-49ED-B003-CB40-AB9AA5CD00B1}"/>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DB9D1BD4-646E-964A-3F24-7843C55AA058}"/>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CF64FD27-C943-7E5C-BC4F-5D6B9C71BBBF}"/>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CCC1688E-D630-6E64-4E76-37C1CF391D62}"/>
              </a:ext>
            </a:extLst>
          </p:cNvPr>
          <p:cNvSpPr txBox="1"/>
          <p:nvPr/>
        </p:nvSpPr>
        <p:spPr>
          <a:xfrm>
            <a:off x="674297" y="1168717"/>
            <a:ext cx="10559759" cy="579967"/>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Which countries have the highest energy consumption relative to GDP? </a:t>
            </a:r>
          </a:p>
        </p:txBody>
      </p:sp>
      <p:grpSp>
        <p:nvGrpSpPr>
          <p:cNvPr id="12" name="Group 11">
            <a:extLst>
              <a:ext uri="{FF2B5EF4-FFF2-40B4-BE49-F238E27FC236}">
                <a16:creationId xmlns:a16="http://schemas.microsoft.com/office/drawing/2014/main" id="{CAC01578-9B7F-6053-0548-84540035D198}"/>
              </a:ext>
            </a:extLst>
          </p:cNvPr>
          <p:cNvGrpSpPr/>
          <p:nvPr/>
        </p:nvGrpSpPr>
        <p:grpSpPr>
          <a:xfrm>
            <a:off x="674297" y="2191024"/>
            <a:ext cx="5050797" cy="3064858"/>
            <a:chOff x="872021" y="2191024"/>
            <a:chExt cx="5050797" cy="3064858"/>
          </a:xfrm>
        </p:grpSpPr>
        <p:sp>
          <p:nvSpPr>
            <p:cNvPr id="11" name="TextBox 10">
              <a:extLst>
                <a:ext uri="{FF2B5EF4-FFF2-40B4-BE49-F238E27FC236}">
                  <a16:creationId xmlns:a16="http://schemas.microsoft.com/office/drawing/2014/main" id="{BC7E394A-83E0-1875-D158-F3CCC81AC973}"/>
                </a:ext>
              </a:extLst>
            </p:cNvPr>
            <p:cNvSpPr txBox="1"/>
            <p:nvPr/>
          </p:nvSpPr>
          <p:spPr>
            <a:xfrm>
              <a:off x="872021" y="2191024"/>
              <a:ext cx="5050796"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8" name="Picture 7">
              <a:extLst>
                <a:ext uri="{FF2B5EF4-FFF2-40B4-BE49-F238E27FC236}">
                  <a16:creationId xmlns:a16="http://schemas.microsoft.com/office/drawing/2014/main" id="{FD472621-9965-2526-0E84-1D8AE7664C93}"/>
                </a:ext>
              </a:extLst>
            </p:cNvPr>
            <p:cNvPicPr>
              <a:picLocks noChangeAspect="1"/>
            </p:cNvPicPr>
            <p:nvPr/>
          </p:nvPicPr>
          <p:blipFill>
            <a:blip r:embed="rId3"/>
            <a:stretch>
              <a:fillRect/>
            </a:stretch>
          </p:blipFill>
          <p:spPr>
            <a:xfrm>
              <a:off x="872021" y="2755993"/>
              <a:ext cx="5050797" cy="2499889"/>
            </a:xfrm>
            <a:prstGeom prst="rect">
              <a:avLst/>
            </a:prstGeom>
            <a:ln>
              <a:solidFill>
                <a:srgbClr val="B0B0B0"/>
              </a:solidFill>
            </a:ln>
          </p:spPr>
        </p:pic>
      </p:grpSp>
      <p:grpSp>
        <p:nvGrpSpPr>
          <p:cNvPr id="16" name="Group 15">
            <a:extLst>
              <a:ext uri="{FF2B5EF4-FFF2-40B4-BE49-F238E27FC236}">
                <a16:creationId xmlns:a16="http://schemas.microsoft.com/office/drawing/2014/main" id="{28357929-2D96-0862-5135-310A3D4E0426}"/>
              </a:ext>
            </a:extLst>
          </p:cNvPr>
          <p:cNvGrpSpPr/>
          <p:nvPr/>
        </p:nvGrpSpPr>
        <p:grpSpPr>
          <a:xfrm>
            <a:off x="6691933" y="2191024"/>
            <a:ext cx="3248478" cy="3155123"/>
            <a:chOff x="6691933" y="2191024"/>
            <a:chExt cx="3248478" cy="3155123"/>
          </a:xfrm>
        </p:grpSpPr>
        <p:sp>
          <p:nvSpPr>
            <p:cNvPr id="13" name="TextBox 12">
              <a:extLst>
                <a:ext uri="{FF2B5EF4-FFF2-40B4-BE49-F238E27FC236}">
                  <a16:creationId xmlns:a16="http://schemas.microsoft.com/office/drawing/2014/main" id="{AFEDF3BF-7025-C026-B13C-0A4539D141FD}"/>
                </a:ext>
              </a:extLst>
            </p:cNvPr>
            <p:cNvSpPr txBox="1"/>
            <p:nvPr/>
          </p:nvSpPr>
          <p:spPr>
            <a:xfrm>
              <a:off x="6691933" y="2191024"/>
              <a:ext cx="3232078"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15" name="Picture 14">
              <a:extLst>
                <a:ext uri="{FF2B5EF4-FFF2-40B4-BE49-F238E27FC236}">
                  <a16:creationId xmlns:a16="http://schemas.microsoft.com/office/drawing/2014/main" id="{07AA9967-C867-6CF6-7AC3-D0E94B738C9F}"/>
                </a:ext>
              </a:extLst>
            </p:cNvPr>
            <p:cNvPicPr>
              <a:picLocks noChangeAspect="1"/>
            </p:cNvPicPr>
            <p:nvPr/>
          </p:nvPicPr>
          <p:blipFill>
            <a:blip r:embed="rId4"/>
            <a:stretch>
              <a:fillRect/>
            </a:stretch>
          </p:blipFill>
          <p:spPr>
            <a:xfrm>
              <a:off x="6691933" y="2840722"/>
              <a:ext cx="3248478" cy="2505425"/>
            </a:xfrm>
            <a:prstGeom prst="rect">
              <a:avLst/>
            </a:prstGeom>
            <a:ln>
              <a:solidFill>
                <a:srgbClr val="B0B0B0"/>
              </a:solidFill>
            </a:ln>
          </p:spPr>
        </p:pic>
      </p:grpSp>
    </p:spTree>
    <p:extLst>
      <p:ext uri="{BB962C8B-B14F-4D97-AF65-F5344CB8AC3E}">
        <p14:creationId xmlns:p14="http://schemas.microsoft.com/office/powerpoint/2010/main" val="2526063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345C9-0875-0E1C-0920-DD78E74EA3AE}"/>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9EB13592-8749-1862-FECD-AB74B37C2648}"/>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A9C01B0E-C6B3-AEB3-4744-3BA45B4D7804}"/>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B6C9B00D-31C4-F2CC-53C1-A7C552EF55DD}"/>
              </a:ext>
            </a:extLst>
          </p:cNvPr>
          <p:cNvSpPr txBox="1"/>
          <p:nvPr/>
        </p:nvSpPr>
        <p:spPr>
          <a:xfrm>
            <a:off x="674297" y="1168717"/>
            <a:ext cx="10559759" cy="579967"/>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What is the global share (%) of emissions by country? </a:t>
            </a:r>
          </a:p>
        </p:txBody>
      </p:sp>
      <p:grpSp>
        <p:nvGrpSpPr>
          <p:cNvPr id="7" name="Group 6">
            <a:extLst>
              <a:ext uri="{FF2B5EF4-FFF2-40B4-BE49-F238E27FC236}">
                <a16:creationId xmlns:a16="http://schemas.microsoft.com/office/drawing/2014/main" id="{7DCBCE77-999F-FD48-32B5-A624806241F2}"/>
              </a:ext>
            </a:extLst>
          </p:cNvPr>
          <p:cNvGrpSpPr/>
          <p:nvPr/>
        </p:nvGrpSpPr>
        <p:grpSpPr>
          <a:xfrm>
            <a:off x="674296" y="2009912"/>
            <a:ext cx="5421703" cy="2691442"/>
            <a:chOff x="674296" y="2191024"/>
            <a:chExt cx="5421703" cy="2691442"/>
          </a:xfrm>
        </p:grpSpPr>
        <p:sp>
          <p:nvSpPr>
            <p:cNvPr id="11" name="TextBox 10">
              <a:extLst>
                <a:ext uri="{FF2B5EF4-FFF2-40B4-BE49-F238E27FC236}">
                  <a16:creationId xmlns:a16="http://schemas.microsoft.com/office/drawing/2014/main" id="{79A9BBB8-F17C-512E-E1D7-A2353BAAC9B9}"/>
                </a:ext>
              </a:extLst>
            </p:cNvPr>
            <p:cNvSpPr txBox="1"/>
            <p:nvPr/>
          </p:nvSpPr>
          <p:spPr>
            <a:xfrm>
              <a:off x="674296" y="2191024"/>
              <a:ext cx="5421703"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5" name="Picture 4">
              <a:extLst>
                <a:ext uri="{FF2B5EF4-FFF2-40B4-BE49-F238E27FC236}">
                  <a16:creationId xmlns:a16="http://schemas.microsoft.com/office/drawing/2014/main" id="{7E3D9A47-6A3E-6F7B-7B3B-2D9BECEB001C}"/>
                </a:ext>
              </a:extLst>
            </p:cNvPr>
            <p:cNvPicPr>
              <a:picLocks noChangeAspect="1"/>
            </p:cNvPicPr>
            <p:nvPr/>
          </p:nvPicPr>
          <p:blipFill>
            <a:blip r:embed="rId3"/>
            <a:stretch>
              <a:fillRect/>
            </a:stretch>
          </p:blipFill>
          <p:spPr>
            <a:xfrm>
              <a:off x="674296" y="2794407"/>
              <a:ext cx="5421703" cy="2088059"/>
            </a:xfrm>
            <a:prstGeom prst="rect">
              <a:avLst/>
            </a:prstGeom>
            <a:ln>
              <a:solidFill>
                <a:srgbClr val="B0B0B0"/>
              </a:solidFill>
            </a:ln>
          </p:spPr>
        </p:pic>
      </p:grpSp>
      <p:grpSp>
        <p:nvGrpSpPr>
          <p:cNvPr id="14" name="Group 13">
            <a:extLst>
              <a:ext uri="{FF2B5EF4-FFF2-40B4-BE49-F238E27FC236}">
                <a16:creationId xmlns:a16="http://schemas.microsoft.com/office/drawing/2014/main" id="{F4CDE106-3B39-5803-6807-F1BBF39A025F}"/>
              </a:ext>
            </a:extLst>
          </p:cNvPr>
          <p:cNvGrpSpPr/>
          <p:nvPr/>
        </p:nvGrpSpPr>
        <p:grpSpPr>
          <a:xfrm>
            <a:off x="7325778" y="2009911"/>
            <a:ext cx="3232078" cy="3993680"/>
            <a:chOff x="7325778" y="2009911"/>
            <a:chExt cx="3232078" cy="3993680"/>
          </a:xfrm>
        </p:grpSpPr>
        <p:sp>
          <p:nvSpPr>
            <p:cNvPr id="13" name="TextBox 12">
              <a:extLst>
                <a:ext uri="{FF2B5EF4-FFF2-40B4-BE49-F238E27FC236}">
                  <a16:creationId xmlns:a16="http://schemas.microsoft.com/office/drawing/2014/main" id="{6959D6B4-38A1-F072-3A0D-31E038F01900}"/>
                </a:ext>
              </a:extLst>
            </p:cNvPr>
            <p:cNvSpPr txBox="1"/>
            <p:nvPr/>
          </p:nvSpPr>
          <p:spPr>
            <a:xfrm>
              <a:off x="7325778" y="2009911"/>
              <a:ext cx="3232078"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10" name="Picture 9">
              <a:extLst>
                <a:ext uri="{FF2B5EF4-FFF2-40B4-BE49-F238E27FC236}">
                  <a16:creationId xmlns:a16="http://schemas.microsoft.com/office/drawing/2014/main" id="{481F7958-0760-B66D-F8EF-B21AA4D0C6D8}"/>
                </a:ext>
              </a:extLst>
            </p:cNvPr>
            <p:cNvPicPr>
              <a:picLocks noChangeAspect="1"/>
            </p:cNvPicPr>
            <p:nvPr/>
          </p:nvPicPr>
          <p:blipFill>
            <a:blip r:embed="rId4"/>
            <a:stretch>
              <a:fillRect/>
            </a:stretch>
          </p:blipFill>
          <p:spPr>
            <a:xfrm>
              <a:off x="7419110" y="2642246"/>
              <a:ext cx="3138746" cy="3361345"/>
            </a:xfrm>
            <a:prstGeom prst="rect">
              <a:avLst/>
            </a:prstGeom>
            <a:ln>
              <a:solidFill>
                <a:srgbClr val="B0B0B0"/>
              </a:solidFill>
            </a:ln>
          </p:spPr>
        </p:pic>
      </p:grpSp>
    </p:spTree>
    <p:extLst>
      <p:ext uri="{BB962C8B-B14F-4D97-AF65-F5344CB8AC3E}">
        <p14:creationId xmlns:p14="http://schemas.microsoft.com/office/powerpoint/2010/main" val="1754682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60C8F-CC25-A191-FF97-683EFD6A3AB4}"/>
            </a:ext>
          </a:extLst>
        </p:cNvPr>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E6CF60E5-3B2D-76C9-0BF6-03E96411FD74}"/>
              </a:ext>
            </a:extLst>
          </p:cNvPr>
          <p:cNvPicPr>
            <a:picLocks noChangeAspect="1"/>
          </p:cNvPicPr>
          <p:nvPr/>
        </p:nvPicPr>
        <p:blipFill>
          <a:blip r:embed="rId2">
            <a:extLst>
              <a:ext uri="{28A0092B-C50C-407E-A947-70E740481C1C}">
                <a14:useLocalDpi xmlns:a14="http://schemas.microsoft.com/office/drawing/2010/main" val="0"/>
              </a:ext>
            </a:extLst>
          </a:blip>
          <a:srcRect l="22201" t="18728" r="22736" b="30658"/>
          <a:stretch>
            <a:fillRect/>
          </a:stretch>
        </p:blipFill>
        <p:spPr>
          <a:xfrm>
            <a:off x="9113520" y="6096264"/>
            <a:ext cx="2915920" cy="660565"/>
          </a:xfrm>
          <a:prstGeom prst="rect">
            <a:avLst/>
          </a:prstGeom>
        </p:spPr>
      </p:pic>
      <p:sp>
        <p:nvSpPr>
          <p:cNvPr id="3" name="Title 1">
            <a:extLst>
              <a:ext uri="{FF2B5EF4-FFF2-40B4-BE49-F238E27FC236}">
                <a16:creationId xmlns:a16="http://schemas.microsoft.com/office/drawing/2014/main" id="{4766C4A0-AFA5-133F-5175-B7B0B0351910}"/>
              </a:ext>
            </a:extLst>
          </p:cNvPr>
          <p:cNvSpPr txBox="1">
            <a:spLocks/>
          </p:cNvSpPr>
          <p:nvPr/>
        </p:nvSpPr>
        <p:spPr>
          <a:xfrm>
            <a:off x="674298" y="484736"/>
            <a:ext cx="9727096" cy="6605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anose="02020603050405020304" pitchFamily="18" charset="0"/>
                <a:cs typeface="Times New Roman" panose="02020603050405020304" pitchFamily="18" charset="0"/>
              </a:rPr>
              <a:t>SQL</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Analysis and</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Query</a:t>
            </a:r>
            <a:r>
              <a:rPr lang="en-US" sz="4000" dirty="0"/>
              <a:t> </a:t>
            </a:r>
            <a:r>
              <a:rPr lang="en-US" sz="4000" b="1" dirty="0">
                <a:solidFill>
                  <a:srgbClr val="FF0000"/>
                </a:solidFill>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E1F98EF9-3C6E-2281-3501-9982C47DE53F}"/>
              </a:ext>
            </a:extLst>
          </p:cNvPr>
          <p:cNvSpPr txBox="1"/>
          <p:nvPr/>
        </p:nvSpPr>
        <p:spPr>
          <a:xfrm>
            <a:off x="674297" y="1168717"/>
            <a:ext cx="10559759" cy="579967"/>
          </a:xfrm>
          <a:prstGeom prst="rect">
            <a:avLst/>
          </a:prstGeom>
          <a:noFill/>
        </p:spPr>
        <p:txBody>
          <a:bodyPr wrap="square" rtlCol="0">
            <a:spAutoFit/>
          </a:bodyPr>
          <a:lstStyle/>
          <a:p>
            <a:pPr algn="just">
              <a:lnSpc>
                <a:spcPct val="150000"/>
              </a:lnSpc>
            </a:pPr>
            <a:r>
              <a:rPr lang="en-US" sz="2400" b="1">
                <a:latin typeface="Times New Roman" panose="02020603050405020304" pitchFamily="18" charset="0"/>
                <a:cs typeface="Times New Roman" panose="02020603050405020304" pitchFamily="18" charset="0"/>
              </a:rPr>
              <a:t>What is the global average GDP, emission, and population by year?</a:t>
            </a:r>
            <a:endParaRPr lang="en-US" sz="2400" b="1"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08D56A0E-93D6-08C6-E088-71BB97831D9E}"/>
              </a:ext>
            </a:extLst>
          </p:cNvPr>
          <p:cNvGrpSpPr/>
          <p:nvPr/>
        </p:nvGrpSpPr>
        <p:grpSpPr>
          <a:xfrm>
            <a:off x="778206" y="2037135"/>
            <a:ext cx="4126303" cy="4182240"/>
            <a:chOff x="674297" y="2191024"/>
            <a:chExt cx="4126303" cy="4182240"/>
          </a:xfrm>
        </p:grpSpPr>
        <p:sp>
          <p:nvSpPr>
            <p:cNvPr id="11" name="TextBox 10">
              <a:extLst>
                <a:ext uri="{FF2B5EF4-FFF2-40B4-BE49-F238E27FC236}">
                  <a16:creationId xmlns:a16="http://schemas.microsoft.com/office/drawing/2014/main" id="{C59B43C5-4808-D2A7-1334-AD5DAF6C2C30}"/>
                </a:ext>
              </a:extLst>
            </p:cNvPr>
            <p:cNvSpPr txBox="1"/>
            <p:nvPr/>
          </p:nvSpPr>
          <p:spPr>
            <a:xfrm>
              <a:off x="674297" y="2191024"/>
              <a:ext cx="4126303"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Query</a:t>
              </a:r>
            </a:p>
          </p:txBody>
        </p:sp>
        <p:pic>
          <p:nvPicPr>
            <p:cNvPr id="5" name="Picture 4">
              <a:extLst>
                <a:ext uri="{FF2B5EF4-FFF2-40B4-BE49-F238E27FC236}">
                  <a16:creationId xmlns:a16="http://schemas.microsoft.com/office/drawing/2014/main" id="{259A98B9-1EAE-DA01-B56B-08CFF48957B2}"/>
                </a:ext>
              </a:extLst>
            </p:cNvPr>
            <p:cNvPicPr>
              <a:picLocks noChangeAspect="1"/>
            </p:cNvPicPr>
            <p:nvPr/>
          </p:nvPicPr>
          <p:blipFill>
            <a:blip r:embed="rId3"/>
            <a:stretch>
              <a:fillRect/>
            </a:stretch>
          </p:blipFill>
          <p:spPr>
            <a:xfrm>
              <a:off x="674297" y="2651914"/>
              <a:ext cx="4126303" cy="3721350"/>
            </a:xfrm>
            <a:prstGeom prst="rect">
              <a:avLst/>
            </a:prstGeom>
            <a:ln>
              <a:solidFill>
                <a:srgbClr val="B0B0B0"/>
              </a:solidFill>
            </a:ln>
          </p:spPr>
        </p:pic>
      </p:grpSp>
      <p:grpSp>
        <p:nvGrpSpPr>
          <p:cNvPr id="14" name="Group 13">
            <a:extLst>
              <a:ext uri="{FF2B5EF4-FFF2-40B4-BE49-F238E27FC236}">
                <a16:creationId xmlns:a16="http://schemas.microsoft.com/office/drawing/2014/main" id="{8FA8B335-87DD-673B-4D41-5631ED302667}"/>
              </a:ext>
            </a:extLst>
          </p:cNvPr>
          <p:cNvGrpSpPr/>
          <p:nvPr/>
        </p:nvGrpSpPr>
        <p:grpSpPr>
          <a:xfrm>
            <a:off x="5954176" y="2037135"/>
            <a:ext cx="4746552" cy="1994538"/>
            <a:chOff x="5954176" y="2037135"/>
            <a:chExt cx="4746552" cy="1994538"/>
          </a:xfrm>
        </p:grpSpPr>
        <p:sp>
          <p:nvSpPr>
            <p:cNvPr id="13" name="TextBox 12">
              <a:extLst>
                <a:ext uri="{FF2B5EF4-FFF2-40B4-BE49-F238E27FC236}">
                  <a16:creationId xmlns:a16="http://schemas.microsoft.com/office/drawing/2014/main" id="{62AAF0B1-C34B-FC2E-D1B9-1651737128C7}"/>
                </a:ext>
              </a:extLst>
            </p:cNvPr>
            <p:cNvSpPr txBox="1"/>
            <p:nvPr/>
          </p:nvSpPr>
          <p:spPr>
            <a:xfrm>
              <a:off x="5954176" y="2037135"/>
              <a:ext cx="4746552" cy="307777"/>
            </a:xfrm>
            <a:prstGeom prst="rect">
              <a:avLst/>
            </a:prstGeom>
            <a:noFill/>
            <a:ln>
              <a:solidFill>
                <a:srgbClr val="B0B0B0"/>
              </a:solidFill>
            </a:ln>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Output</a:t>
              </a:r>
            </a:p>
          </p:txBody>
        </p:sp>
        <p:pic>
          <p:nvPicPr>
            <p:cNvPr id="10" name="Picture 9">
              <a:extLst>
                <a:ext uri="{FF2B5EF4-FFF2-40B4-BE49-F238E27FC236}">
                  <a16:creationId xmlns:a16="http://schemas.microsoft.com/office/drawing/2014/main" id="{F44FE38E-F89D-9B10-E9A4-E58372F08C7C}"/>
                </a:ext>
              </a:extLst>
            </p:cNvPr>
            <p:cNvPicPr>
              <a:picLocks noChangeAspect="1"/>
            </p:cNvPicPr>
            <p:nvPr/>
          </p:nvPicPr>
          <p:blipFill>
            <a:blip r:embed="rId4"/>
            <a:stretch>
              <a:fillRect/>
            </a:stretch>
          </p:blipFill>
          <p:spPr>
            <a:xfrm>
              <a:off x="5954176" y="2809788"/>
              <a:ext cx="4746552" cy="1221885"/>
            </a:xfrm>
            <a:prstGeom prst="rect">
              <a:avLst/>
            </a:prstGeom>
            <a:ln>
              <a:solidFill>
                <a:srgbClr val="B0B0B0"/>
              </a:solidFill>
            </a:ln>
          </p:spPr>
        </p:pic>
      </p:grpSp>
    </p:spTree>
    <p:extLst>
      <p:ext uri="{BB962C8B-B14F-4D97-AF65-F5344CB8AC3E}">
        <p14:creationId xmlns:p14="http://schemas.microsoft.com/office/powerpoint/2010/main" val="3869169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C055DD5-EF2D-09CA-B064-019A146FEC84}"/>
              </a:ext>
            </a:extLst>
          </p:cNvPr>
          <p:cNvSpPr txBox="1"/>
          <p:nvPr/>
        </p:nvSpPr>
        <p:spPr>
          <a:xfrm>
            <a:off x="490969" y="322119"/>
            <a:ext cx="2337499"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Business Insights:</a:t>
            </a:r>
            <a:endParaRPr lang="en-IN" sz="2200" b="1" dirty="0">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80AC622-53C4-76E9-6EC4-F122E4FF5418}"/>
              </a:ext>
            </a:extLst>
          </p:cNvPr>
          <p:cNvSpPr txBox="1"/>
          <p:nvPr/>
        </p:nvSpPr>
        <p:spPr>
          <a:xfrm>
            <a:off x="490966" y="3912915"/>
            <a:ext cx="2505814" cy="430887"/>
          </a:xfrm>
          <a:prstGeom prst="rect">
            <a:avLst/>
          </a:prstGeom>
          <a:noFill/>
        </p:spPr>
        <p:txBody>
          <a:bodyPr wrap="square" rtlCol="0">
            <a:spAutoFit/>
          </a:bodyPr>
          <a:lstStyle/>
          <a:p>
            <a:r>
              <a:rPr lang="en-IN" sz="2200" b="1" dirty="0">
                <a:solidFill>
                  <a:srgbClr val="FF0000"/>
                </a:solidFill>
                <a:latin typeface="Times New Roman" panose="02020603050405020304" pitchFamily="18" charset="0"/>
                <a:cs typeface="Times New Roman" panose="02020603050405020304" pitchFamily="18" charset="0"/>
              </a:rPr>
              <a:t>Recommendations:</a:t>
            </a:r>
            <a:endParaRPr lang="en-IN" sz="220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CE1100A-8278-F22E-442A-A716DFC22C16}"/>
              </a:ext>
            </a:extLst>
          </p:cNvPr>
          <p:cNvSpPr txBox="1"/>
          <p:nvPr/>
        </p:nvSpPr>
        <p:spPr>
          <a:xfrm>
            <a:off x="490968" y="753006"/>
            <a:ext cx="10616913" cy="3170099"/>
          </a:xfrm>
          <a:prstGeom prst="rect">
            <a:avLst/>
          </a:prstGeom>
          <a:noFill/>
        </p:spPr>
        <p:txBody>
          <a:bodyPr wrap="square">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small number of countries contribute most of the global carbon emissions.</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Higher economic growth often leads to higher emissions, but efficiency differs by country.</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Coal and coke are the largest contributors to carbon emissions among energy sources.</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Global emissions have increased over time due to rising energy demand.</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Some countries consume more energy than they produce, showing energy dependency.</a:t>
            </a:r>
          </a:p>
          <a:p>
            <a:endParaRPr lang="en-IN" sz="20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A39A27E4-F1A2-1C0E-46A5-A404EBD5AE95}"/>
              </a:ext>
            </a:extLst>
          </p:cNvPr>
          <p:cNvSpPr>
            <a:spLocks noChangeArrowheads="1"/>
          </p:cNvSpPr>
          <p:nvPr/>
        </p:nvSpPr>
        <p:spPr bwMode="auto">
          <a:xfrm>
            <a:off x="490966" y="4473778"/>
            <a:ext cx="8162812"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Prioritize emission reduction in high-emission, high-energy-use countries</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per-capita and emission-to-GDP ratios for fair efficiency comparison</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Align future energy planning with population and economic growth trends</a:t>
            </a:r>
          </a:p>
        </p:txBody>
      </p:sp>
    </p:spTree>
    <p:extLst>
      <p:ext uri="{BB962C8B-B14F-4D97-AF65-F5344CB8AC3E}">
        <p14:creationId xmlns:p14="http://schemas.microsoft.com/office/powerpoint/2010/main" val="731994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EE31F2-FDE8-2D0A-B474-3DA59D85FB60}"/>
              </a:ext>
            </a:extLst>
          </p:cNvPr>
          <p:cNvSpPr txBox="1"/>
          <p:nvPr/>
        </p:nvSpPr>
        <p:spPr>
          <a:xfrm>
            <a:off x="415637" y="249381"/>
            <a:ext cx="2021707"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Conclusion: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FCC910B-6426-26C6-1C11-86FA73DE9E39}"/>
              </a:ext>
            </a:extLst>
          </p:cNvPr>
          <p:cNvSpPr txBox="1"/>
          <p:nvPr/>
        </p:nvSpPr>
        <p:spPr>
          <a:xfrm>
            <a:off x="800099" y="1024768"/>
            <a:ext cx="10255827" cy="3816429"/>
          </a:xfrm>
          <a:prstGeom prst="rect">
            <a:avLst/>
          </a:prstGeom>
          <a:noFill/>
        </p:spPr>
        <p:txBody>
          <a:bodyPr wrap="square">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relational SQL database was successfully designed and implemented to integrate global energy, emissions, GDP, and population data.</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SQL queries were used to perform country-wise, year-wise, and per-capita analysis across multiple datasets.</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project demonstrates the effectiveness of SQL in converting complex global data into structured, meaningful analysis.</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Overall, the study provides a strong data foundation to support sustainable energy planning and informed decision-making.</a:t>
            </a:r>
          </a:p>
        </p:txBody>
      </p:sp>
    </p:spTree>
    <p:extLst>
      <p:ext uri="{BB962C8B-B14F-4D97-AF65-F5344CB8AC3E}">
        <p14:creationId xmlns:p14="http://schemas.microsoft.com/office/powerpoint/2010/main" val="128509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50FD87-110D-EC92-2065-569309AD7F2E}"/>
              </a:ext>
            </a:extLst>
          </p:cNvPr>
          <p:cNvSpPr txBox="1"/>
          <p:nvPr/>
        </p:nvSpPr>
        <p:spPr>
          <a:xfrm>
            <a:off x="4436918" y="2286000"/>
            <a:ext cx="2000869" cy="861774"/>
          </a:xfrm>
          <a:prstGeom prst="rect">
            <a:avLst/>
          </a:prstGeom>
          <a:noFill/>
        </p:spPr>
        <p:txBody>
          <a:bodyPr wrap="none" rtlCol="0">
            <a:spAutoFit/>
          </a:bodyPr>
          <a:lstStyle/>
          <a:p>
            <a:r>
              <a:rPr lang="en-US" sz="5000" b="1" dirty="0">
                <a:solidFill>
                  <a:srgbClr val="FF0000"/>
                </a:solidFill>
                <a:latin typeface="Times New Roman" panose="02020603050405020304" pitchFamily="18" charset="0"/>
                <a:cs typeface="Times New Roman" panose="02020603050405020304" pitchFamily="18" charset="0"/>
              </a:rPr>
              <a:t>Q &amp; A</a:t>
            </a:r>
            <a:endParaRPr lang="en-IN" sz="5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761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544</TotalTime>
  <Words>833</Words>
  <Application>Microsoft Office PowerPoint</Application>
  <PresentationFormat>Widescreen</PresentationFormat>
  <Paragraphs>124</Paragraphs>
  <Slides>24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Calibri</vt:lpstr>
      <vt:lpstr>Arial</vt:lpstr>
      <vt:lpstr>Libre Baskerville</vt:lpstr>
      <vt:lpstr>Times New Roman</vt:lpstr>
      <vt:lpstr>Office Theme</vt:lpstr>
      <vt:lpstr>PowerPoint Presentation</vt:lpstr>
      <vt:lpstr>PowerPoint Presentation</vt:lpstr>
      <vt:lpstr>Agenda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Sriram krishnasagarapu</cp:lastModifiedBy>
  <cp:revision>2</cp:revision>
  <dcterms:created xsi:type="dcterms:W3CDTF">2021-02-16T05:19:01Z</dcterms:created>
  <dcterms:modified xsi:type="dcterms:W3CDTF">2025-12-24T10:11:57Z</dcterms:modified>
</cp:coreProperties>
</file>